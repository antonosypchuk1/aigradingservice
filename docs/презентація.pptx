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71" r:id="rId5"/>
    <p:sldId id="264" r:id="rId6"/>
    <p:sldId id="272" r:id="rId7"/>
    <p:sldId id="273" r:id="rId8"/>
    <p:sldId id="274" r:id="rId9"/>
    <p:sldId id="275" r:id="rId10"/>
    <p:sldId id="276" r:id="rId11"/>
    <p:sldId id="268" r:id="rId12"/>
    <p:sldId id="269" r:id="rId1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Помір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 autoAdjust="0"/>
    <p:restoredTop sz="94694" autoAdjust="0"/>
  </p:normalViewPr>
  <p:slideViewPr>
    <p:cSldViewPr snapToGrid="0">
      <p:cViewPr varScale="1">
        <p:scale>
          <a:sx n="101" d="100"/>
          <a:sy n="101" d="100"/>
        </p:scale>
        <p:origin x="858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E561D-31C7-4B88-B0FD-EA98D357D148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A09E2-8B1D-4F81-A0DD-32E6279B21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203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334962" y="1992473"/>
            <a:ext cx="11522075" cy="3190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lang="uk-UA" dirty="0"/>
              <a:t>Зразок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77590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07"/>
            <a:ext cx="12192000" cy="6858000"/>
          </a:xfrm>
          <a:prstGeom prst="rect">
            <a:avLst/>
          </a:prstGeom>
        </p:spPr>
      </p:pic>
      <p:sp>
        <p:nvSpPr>
          <p:cNvPr id="7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334961" y="188914"/>
            <a:ext cx="11522075" cy="14051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 dirty="0"/>
              <a:t>Зразок заголовка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10"/>
          </p:nvPr>
        </p:nvSpPr>
        <p:spPr>
          <a:xfrm>
            <a:off x="334963" y="1593850"/>
            <a:ext cx="11522075" cy="4176713"/>
          </a:xfrm>
          <a:prstGeom prst="rect">
            <a:avLst/>
          </a:prstGeom>
        </p:spPr>
        <p:txBody>
          <a:bodyPr/>
          <a:lstStyle>
            <a:lvl1pPr>
              <a:defRPr sz="3600" b="1"/>
            </a:lvl1pPr>
          </a:lstStyle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2563952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сновний слайд з вміс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07"/>
            <a:ext cx="12192000" cy="6858000"/>
          </a:xfrm>
          <a:prstGeom prst="rect">
            <a:avLst/>
          </a:prstGeom>
        </p:spPr>
      </p:pic>
      <p:sp>
        <p:nvSpPr>
          <p:cNvPr id="4" name="Місце для вмісту 3"/>
          <p:cNvSpPr>
            <a:spLocks noGrp="1"/>
          </p:cNvSpPr>
          <p:nvPr>
            <p:ph sz="quarter" idx="10"/>
          </p:nvPr>
        </p:nvSpPr>
        <p:spPr>
          <a:xfrm>
            <a:off x="334963" y="188913"/>
            <a:ext cx="11522075" cy="5578475"/>
          </a:xfrm>
          <a:prstGeom prst="rect">
            <a:avLst/>
          </a:prstGeo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uk-UA" dirty="0"/>
              <a:t>Зразок тексту</a:t>
            </a:r>
          </a:p>
          <a:p>
            <a:pPr lvl="1"/>
            <a:r>
              <a:rPr lang="uk-UA" dirty="0"/>
              <a:t>Другий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319292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Іна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22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789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3" r:id="rId3"/>
    <p:sldLayoutId id="21474836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2260" userDrawn="1">
          <p15:clr>
            <a:srgbClr val="F26B43"/>
          </p15:clr>
        </p15:guide>
        <p15:guide id="6" orient="horz" pos="37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16242" y="937526"/>
            <a:ext cx="11522075" cy="3190553"/>
          </a:xfrm>
        </p:spPr>
        <p:txBody>
          <a:bodyPr>
            <a:normAutofit/>
          </a:bodyPr>
          <a:lstStyle/>
          <a:p>
            <a:br>
              <a:rPr lang="uk-UA" sz="2000" dirty="0"/>
            </a:br>
            <a:r>
              <a:rPr lang="uk-UA" sz="2000" dirty="0"/>
              <a:t>«</a:t>
            </a:r>
            <a:r>
              <a:rPr lang="ru-UA" sz="2000" dirty="0" err="1"/>
              <a:t>Розробка</a:t>
            </a:r>
            <a:r>
              <a:rPr lang="ru-UA" sz="2000" dirty="0"/>
              <a:t> та </a:t>
            </a:r>
            <a:r>
              <a:rPr lang="ru-UA" sz="2000" dirty="0" err="1"/>
              <a:t>порівняльний</a:t>
            </a:r>
            <a:r>
              <a:rPr lang="ru-UA" sz="2000" dirty="0"/>
              <a:t> </a:t>
            </a:r>
            <a:r>
              <a:rPr lang="ru-UA" sz="2000" dirty="0" err="1"/>
              <a:t>аналіз</a:t>
            </a:r>
            <a:r>
              <a:rPr lang="ru-UA" sz="2000" dirty="0"/>
              <a:t> </a:t>
            </a:r>
            <a:r>
              <a:rPr lang="ru-UA" sz="2000" dirty="0" err="1"/>
              <a:t>методів</a:t>
            </a:r>
            <a:r>
              <a:rPr lang="ru-UA" sz="2000" dirty="0"/>
              <a:t> </a:t>
            </a:r>
            <a:r>
              <a:rPr lang="ru-UA" sz="2000" dirty="0" err="1"/>
              <a:t>пояснюваного</a:t>
            </a:r>
            <a:r>
              <a:rPr lang="ru-UA" sz="2000" dirty="0"/>
              <a:t> ШІ</a:t>
            </a:r>
            <a:r>
              <a:rPr lang="uk-UA" sz="2000" dirty="0"/>
              <a:t> </a:t>
            </a:r>
            <a:r>
              <a:rPr lang="ru-UA" sz="2000" dirty="0" err="1"/>
              <a:t>оцінювання</a:t>
            </a:r>
            <a:r>
              <a:rPr lang="ru-UA" sz="2000" dirty="0"/>
              <a:t> </a:t>
            </a:r>
            <a:r>
              <a:rPr lang="ru-UA" sz="2000" dirty="0" err="1"/>
              <a:t>студентських</a:t>
            </a:r>
            <a:r>
              <a:rPr lang="ru-UA" sz="2000" dirty="0"/>
              <a:t> </a:t>
            </a:r>
            <a:r>
              <a:rPr lang="ru-UA" sz="2000" dirty="0" err="1"/>
              <a:t>програмних</a:t>
            </a:r>
            <a:r>
              <a:rPr lang="ru-UA" sz="2000" dirty="0"/>
              <a:t> </a:t>
            </a:r>
            <a:r>
              <a:rPr lang="ru-UA" sz="2000" dirty="0" err="1"/>
              <a:t>робіт</a:t>
            </a:r>
            <a:r>
              <a:rPr lang="uk-UA" sz="2000" dirty="0"/>
              <a:t>»</a:t>
            </a:r>
            <a:endParaRPr lang="ru-R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8962021" y="4128079"/>
            <a:ext cx="2868093" cy="607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uk-UA" sz="1400" dirty="0">
                <a:solidFill>
                  <a:schemeClr val="bg1"/>
                </a:solidFill>
              </a:rPr>
              <a:t>Керівник роботи:</a:t>
            </a:r>
            <a:endParaRPr lang="ru-RU" sz="1400" dirty="0">
              <a:solidFill>
                <a:schemeClr val="bg1"/>
              </a:solidFill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ru-UA" sz="1400" b="1" cap="all" dirty="0">
                <a:solidFill>
                  <a:schemeClr val="bg1"/>
                </a:solidFill>
              </a:rPr>
              <a:t>Марчук</a:t>
            </a:r>
            <a:r>
              <a:rPr lang="ru-UA" sz="1400" b="1" dirty="0">
                <a:solidFill>
                  <a:schemeClr val="bg1"/>
                </a:solidFill>
              </a:rPr>
              <a:t> Галина </a:t>
            </a:r>
            <a:r>
              <a:rPr lang="ru-UA" sz="1400" b="1" dirty="0" err="1">
                <a:solidFill>
                  <a:schemeClr val="bg1"/>
                </a:solidFill>
              </a:rPr>
              <a:t>Вікторівна</a:t>
            </a:r>
            <a:endParaRPr lang="ru-RU" sz="1400" dirty="0">
              <a:solidFill>
                <a:schemeClr val="bg1"/>
              </a:solidFill>
              <a:ea typeface="Times New Roman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792480" y="4116378"/>
            <a:ext cx="6096000" cy="63094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lang="uk-UA" sz="1400" dirty="0">
                <a:solidFill>
                  <a:schemeClr val="bg1"/>
                </a:solidFill>
              </a:rPr>
              <a:t>Виконав студент групи </a:t>
            </a:r>
            <a:r>
              <a:rPr lang="ru-RU" sz="1400" dirty="0">
                <a:solidFill>
                  <a:schemeClr val="bg1"/>
                </a:solidFill>
              </a:rPr>
              <a:t>ІПЗм-25-1</a:t>
            </a:r>
            <a:br>
              <a:rPr lang="ru-RU" sz="1400" dirty="0">
                <a:solidFill>
                  <a:schemeClr val="bg1"/>
                </a:solidFill>
              </a:rPr>
            </a:br>
            <a:r>
              <a:rPr lang="ru-RU" sz="1400" dirty="0">
                <a:solidFill>
                  <a:schemeClr val="bg1"/>
                </a:solidFill>
              </a:rPr>
              <a:t>ОСИПЧУК Антон </a:t>
            </a:r>
            <a:r>
              <a:rPr lang="ru-RU" sz="1400" dirty="0" err="1">
                <a:solidFill>
                  <a:schemeClr val="bg1"/>
                </a:solidFill>
              </a:rPr>
              <a:t>Олексійович</a:t>
            </a:r>
            <a:endParaRPr lang="ru-RU" sz="1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5722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Актуальність</a:t>
            </a:r>
            <a:r>
              <a:rPr lang="ru-RU" b="1" dirty="0"/>
              <a:t> теми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UA" sz="2000" dirty="0"/>
              <a:t>У </a:t>
            </a:r>
            <a:r>
              <a:rPr lang="ru-UA" sz="2000" dirty="0" err="1"/>
              <a:t>навчальних</a:t>
            </a:r>
            <a:r>
              <a:rPr lang="ru-UA" sz="2000" dirty="0"/>
              <a:t> </a:t>
            </a:r>
            <a:r>
              <a:rPr lang="ru-UA" sz="2000" dirty="0" err="1"/>
              <a:t>дисциплінах</a:t>
            </a:r>
            <a:r>
              <a:rPr lang="ru-UA" sz="2000" dirty="0"/>
              <a:t> з </a:t>
            </a:r>
            <a:r>
              <a:rPr lang="ru-UA" sz="2000" dirty="0" err="1"/>
              <a:t>програмування</a:t>
            </a:r>
            <a:r>
              <a:rPr lang="ru-UA" sz="2000" dirty="0"/>
              <a:t> </a:t>
            </a:r>
            <a:r>
              <a:rPr lang="ru-UA" sz="2000" dirty="0" err="1"/>
              <a:t>викладач</a:t>
            </a:r>
            <a:r>
              <a:rPr lang="ru-UA" sz="2000" dirty="0"/>
              <a:t> </a:t>
            </a:r>
            <a:r>
              <a:rPr lang="ru-UA" sz="2000" dirty="0" err="1"/>
              <a:t>перевіряє</a:t>
            </a:r>
            <a:r>
              <a:rPr lang="ru-UA" sz="2000" dirty="0"/>
              <a:t> велику </a:t>
            </a:r>
            <a:r>
              <a:rPr lang="ru-UA" sz="2000" dirty="0" err="1"/>
              <a:t>кількість</a:t>
            </a:r>
            <a:r>
              <a:rPr lang="ru-UA" sz="2000" dirty="0"/>
              <a:t> </a:t>
            </a:r>
            <a:r>
              <a:rPr lang="ru-UA" sz="2000" dirty="0" err="1"/>
              <a:t>студентських</a:t>
            </a:r>
            <a:r>
              <a:rPr lang="ru-UA" sz="2000" dirty="0"/>
              <a:t> </a:t>
            </a:r>
            <a:r>
              <a:rPr lang="ru-UA" sz="2000" dirty="0" err="1"/>
              <a:t>робіт</a:t>
            </a:r>
            <a:r>
              <a:rPr lang="ru-UA" sz="2000" dirty="0"/>
              <a:t>, де </a:t>
            </a:r>
            <a:r>
              <a:rPr lang="ru-UA" sz="2000" dirty="0" err="1"/>
              <a:t>важливо</a:t>
            </a:r>
            <a:r>
              <a:rPr lang="ru-UA" sz="2000" dirty="0"/>
              <a:t> </a:t>
            </a:r>
            <a:r>
              <a:rPr lang="ru-UA" sz="2000" dirty="0" err="1"/>
              <a:t>оцінити</a:t>
            </a:r>
            <a:r>
              <a:rPr lang="ru-UA" sz="2000" dirty="0"/>
              <a:t> не </a:t>
            </a:r>
            <a:r>
              <a:rPr lang="ru-UA" sz="2000" dirty="0" err="1"/>
              <a:t>лише</a:t>
            </a:r>
            <a:r>
              <a:rPr lang="ru-UA" sz="2000" dirty="0"/>
              <a:t> факт </a:t>
            </a:r>
            <a:r>
              <a:rPr lang="ru-UA" sz="2000" dirty="0" err="1"/>
              <a:t>проходження</a:t>
            </a:r>
            <a:r>
              <a:rPr lang="ru-UA" sz="2000" dirty="0"/>
              <a:t> </a:t>
            </a:r>
            <a:r>
              <a:rPr lang="ru-UA" sz="2000" dirty="0" err="1"/>
              <a:t>тестів</a:t>
            </a:r>
            <a:r>
              <a:rPr lang="ru-UA" sz="2000" dirty="0"/>
              <a:t>, а й </a:t>
            </a:r>
            <a:r>
              <a:rPr lang="ru-UA" sz="2000" dirty="0" err="1"/>
              <a:t>логіку</a:t>
            </a:r>
            <a:r>
              <a:rPr lang="ru-UA" sz="2000" dirty="0"/>
              <a:t>, </a:t>
            </a:r>
            <a:r>
              <a:rPr lang="ru-UA" sz="2000" dirty="0" err="1"/>
              <a:t>повноту</a:t>
            </a:r>
            <a:r>
              <a:rPr lang="ru-UA" sz="2000" dirty="0"/>
              <a:t> </a:t>
            </a:r>
            <a:r>
              <a:rPr lang="ru-UA" sz="2000" dirty="0" err="1"/>
              <a:t>рішення</a:t>
            </a:r>
            <a:r>
              <a:rPr lang="ru-UA" sz="2000" dirty="0"/>
              <a:t> та </a:t>
            </a:r>
            <a:r>
              <a:rPr lang="ru-UA" sz="2000" dirty="0" err="1"/>
              <a:t>якість</a:t>
            </a:r>
            <a:r>
              <a:rPr lang="ru-UA" sz="2000" dirty="0"/>
              <a:t> коду.</a:t>
            </a:r>
          </a:p>
          <a:p>
            <a:r>
              <a:rPr lang="ru-UA" sz="2000" dirty="0" err="1"/>
              <a:t>Звичайні</a:t>
            </a:r>
            <a:r>
              <a:rPr lang="ru-UA" sz="2000" dirty="0"/>
              <a:t> </a:t>
            </a:r>
            <a:r>
              <a:rPr lang="ru-UA" sz="2000" dirty="0" err="1"/>
              <a:t>автотести</a:t>
            </a:r>
            <a:r>
              <a:rPr lang="ru-UA" sz="2000" dirty="0"/>
              <a:t> є </a:t>
            </a:r>
            <a:r>
              <a:rPr lang="ru-UA" sz="2000" dirty="0" err="1"/>
              <a:t>швидкими</a:t>
            </a:r>
            <a:r>
              <a:rPr lang="ru-UA" sz="2000" dirty="0"/>
              <a:t>, </a:t>
            </a:r>
            <a:r>
              <a:rPr lang="ru-UA" sz="2000" dirty="0" err="1"/>
              <a:t>але</a:t>
            </a:r>
            <a:r>
              <a:rPr lang="ru-UA" sz="2000" dirty="0"/>
              <a:t> </a:t>
            </a:r>
            <a:r>
              <a:rPr lang="ru-UA" sz="2000" dirty="0" err="1"/>
              <a:t>можуть</a:t>
            </a:r>
            <a:r>
              <a:rPr lang="ru-UA" sz="2000" dirty="0"/>
              <a:t> </a:t>
            </a:r>
            <a:r>
              <a:rPr lang="ru-UA" sz="2000" dirty="0" err="1"/>
              <a:t>переоцінювати</a:t>
            </a:r>
            <a:r>
              <a:rPr lang="ru-UA" sz="2000" dirty="0"/>
              <a:t> </a:t>
            </a:r>
            <a:r>
              <a:rPr lang="ru-UA" sz="2000" dirty="0" err="1"/>
              <a:t>рішення</a:t>
            </a:r>
            <a:r>
              <a:rPr lang="ru-UA" sz="2000" dirty="0"/>
              <a:t>, </a:t>
            </a:r>
            <a:r>
              <a:rPr lang="ru-UA" sz="2000" dirty="0" err="1"/>
              <a:t>які</a:t>
            </a:r>
            <a:r>
              <a:rPr lang="ru-UA" sz="2000" dirty="0"/>
              <a:t> </a:t>
            </a:r>
            <a:r>
              <a:rPr lang="ru-UA" sz="2000" dirty="0" err="1"/>
              <a:t>випадково</a:t>
            </a:r>
            <a:r>
              <a:rPr lang="ru-UA" sz="2000" dirty="0"/>
              <a:t> </a:t>
            </a:r>
            <a:r>
              <a:rPr lang="ru-UA" sz="2000" dirty="0" err="1"/>
              <a:t>проходять</a:t>
            </a:r>
            <a:r>
              <a:rPr lang="ru-UA" sz="2000" dirty="0"/>
              <a:t> </a:t>
            </a:r>
            <a:r>
              <a:rPr lang="ru-UA" sz="2000" dirty="0" err="1"/>
              <a:t>частину</a:t>
            </a:r>
            <a:r>
              <a:rPr lang="ru-UA" sz="2000" dirty="0"/>
              <a:t> </a:t>
            </a:r>
            <a:r>
              <a:rPr lang="ru-UA" sz="2000" dirty="0" err="1"/>
              <a:t>тестів</a:t>
            </a:r>
            <a:r>
              <a:rPr lang="ru-UA" sz="2000" dirty="0"/>
              <a:t>. LLM </a:t>
            </a:r>
            <a:r>
              <a:rPr lang="ru-UA" sz="2000" dirty="0" err="1"/>
              <a:t>можуть</a:t>
            </a:r>
            <a:r>
              <a:rPr lang="ru-UA" sz="2000" dirty="0"/>
              <a:t> </a:t>
            </a:r>
            <a:r>
              <a:rPr lang="ru-UA" sz="2000" dirty="0" err="1"/>
              <a:t>пояснювати</a:t>
            </a:r>
            <a:r>
              <a:rPr lang="ru-UA" sz="2000" dirty="0"/>
              <a:t> </a:t>
            </a:r>
            <a:r>
              <a:rPr lang="ru-UA" sz="2000" dirty="0" err="1"/>
              <a:t>помилки</a:t>
            </a:r>
            <a:r>
              <a:rPr lang="ru-UA" sz="2000" dirty="0"/>
              <a:t>, </a:t>
            </a:r>
            <a:r>
              <a:rPr lang="ru-UA" sz="2000" dirty="0" err="1"/>
              <a:t>але</a:t>
            </a:r>
            <a:r>
              <a:rPr lang="ru-UA" sz="2000" dirty="0"/>
              <a:t> </a:t>
            </a:r>
            <a:r>
              <a:rPr lang="ru-UA" sz="2000" dirty="0" err="1"/>
              <a:t>іноді</a:t>
            </a:r>
            <a:r>
              <a:rPr lang="ru-UA" sz="2000" dirty="0"/>
              <a:t> </a:t>
            </a:r>
            <a:r>
              <a:rPr lang="ru-UA" sz="2000" dirty="0" err="1"/>
              <a:t>нестабільно</a:t>
            </a:r>
            <a:r>
              <a:rPr lang="ru-UA" sz="2000" dirty="0"/>
              <a:t> </a:t>
            </a:r>
            <a:r>
              <a:rPr lang="ru-UA" sz="2000" dirty="0" err="1"/>
              <a:t>оцінюють</a:t>
            </a:r>
            <a:r>
              <a:rPr lang="ru-UA" sz="2000" dirty="0"/>
              <a:t> код </a:t>
            </a:r>
            <a:r>
              <a:rPr lang="ru-UA" sz="2000" dirty="0" err="1"/>
              <a:t>або</a:t>
            </a:r>
            <a:r>
              <a:rPr lang="ru-UA" sz="2000" dirty="0"/>
              <a:t> </a:t>
            </a:r>
            <a:r>
              <a:rPr lang="ru-UA" sz="2000" dirty="0" err="1"/>
              <a:t>завищують</a:t>
            </a:r>
            <a:r>
              <a:rPr lang="ru-UA" sz="2000" dirty="0"/>
              <a:t> </a:t>
            </a:r>
            <a:r>
              <a:rPr lang="ru-UA" sz="2000" dirty="0" err="1"/>
              <a:t>бали</a:t>
            </a:r>
            <a:r>
              <a:rPr lang="ru-UA" sz="2000" dirty="0"/>
              <a:t>.</a:t>
            </a:r>
          </a:p>
          <a:p>
            <a:r>
              <a:rPr lang="ru-UA" sz="2000" dirty="0"/>
              <a:t>Тому </a:t>
            </a:r>
            <a:r>
              <a:rPr lang="ru-UA" sz="2000" dirty="0" err="1"/>
              <a:t>актуальним</a:t>
            </a:r>
            <a:r>
              <a:rPr lang="ru-UA" sz="2000" dirty="0"/>
              <a:t> є </a:t>
            </a:r>
            <a:r>
              <a:rPr lang="ru-UA" sz="2000" dirty="0" err="1"/>
              <a:t>створення</a:t>
            </a:r>
            <a:r>
              <a:rPr lang="ru-UA" sz="2000" dirty="0"/>
              <a:t> AI-</a:t>
            </a:r>
            <a:r>
              <a:rPr lang="ru-UA" sz="2000" dirty="0" err="1"/>
              <a:t>assisted</a:t>
            </a:r>
            <a:r>
              <a:rPr lang="ru-UA" sz="2000" dirty="0"/>
              <a:t> </a:t>
            </a:r>
            <a:r>
              <a:rPr lang="ru-UA" sz="2000" dirty="0" err="1"/>
              <a:t>сервісу</a:t>
            </a:r>
            <a:r>
              <a:rPr lang="ru-UA" sz="2000" dirty="0"/>
              <a:t>, </a:t>
            </a:r>
            <a:r>
              <a:rPr lang="ru-UA" sz="2000" dirty="0" err="1"/>
              <a:t>який</a:t>
            </a:r>
            <a:r>
              <a:rPr lang="ru-UA" sz="2000" dirty="0"/>
              <a:t> </a:t>
            </a:r>
            <a:r>
              <a:rPr lang="ru-UA" sz="2000" dirty="0" err="1"/>
              <a:t>поєднує</a:t>
            </a:r>
            <a:r>
              <a:rPr lang="ru-UA" sz="2000" dirty="0"/>
              <a:t> тести, </a:t>
            </a:r>
            <a:r>
              <a:rPr lang="ru-UA" sz="2000" dirty="0" err="1"/>
              <a:t>статичний</a:t>
            </a:r>
            <a:r>
              <a:rPr lang="ru-UA" sz="2000" dirty="0"/>
              <a:t> </a:t>
            </a:r>
            <a:r>
              <a:rPr lang="ru-UA" sz="2000" dirty="0" err="1"/>
              <a:t>аналіз</a:t>
            </a:r>
            <a:r>
              <a:rPr lang="ru-UA" sz="2000" dirty="0"/>
              <a:t>, LLM </a:t>
            </a:r>
            <a:r>
              <a:rPr lang="ru-UA" sz="2000" dirty="0" err="1"/>
              <a:t>reasoning</a:t>
            </a:r>
            <a:r>
              <a:rPr lang="ru-UA" sz="2000" dirty="0"/>
              <a:t> і </a:t>
            </a:r>
            <a:r>
              <a:rPr lang="ru-UA" sz="2000" dirty="0" err="1"/>
              <a:t>guardrails</a:t>
            </a:r>
            <a:r>
              <a:rPr lang="ru-UA" sz="2000" dirty="0"/>
              <a:t>, </a:t>
            </a:r>
            <a:r>
              <a:rPr lang="ru-UA" sz="2000" dirty="0" err="1"/>
              <a:t>залишаючи</a:t>
            </a:r>
            <a:r>
              <a:rPr lang="ru-UA" sz="2000" dirty="0"/>
              <a:t> </a:t>
            </a:r>
            <a:r>
              <a:rPr lang="ru-UA" sz="2000" dirty="0" err="1"/>
              <a:t>фінальне</a:t>
            </a:r>
            <a:r>
              <a:rPr lang="ru-UA" sz="2000" dirty="0"/>
              <a:t> </a:t>
            </a:r>
            <a:r>
              <a:rPr lang="ru-UA" sz="2000" dirty="0" err="1"/>
              <a:t>рішення</a:t>
            </a:r>
            <a:r>
              <a:rPr lang="ru-UA" sz="2000" dirty="0"/>
              <a:t> за </a:t>
            </a:r>
            <a:r>
              <a:rPr lang="ru-UA" sz="2000" dirty="0" err="1"/>
              <a:t>викладачем</a:t>
            </a:r>
            <a:r>
              <a:rPr lang="ru-UA" sz="2000" dirty="0"/>
              <a:t>.</a:t>
            </a:r>
          </a:p>
          <a:p>
            <a:pPr marL="0" indent="0">
              <a:buNone/>
            </a:pPr>
            <a:endParaRPr lang="ru-RU" sz="2000" b="0" dirty="0"/>
          </a:p>
        </p:txBody>
      </p:sp>
    </p:spTree>
    <p:extLst>
      <p:ext uri="{BB962C8B-B14F-4D97-AF65-F5344CB8AC3E}">
        <p14:creationId xmlns:p14="http://schemas.microsoft.com/office/powerpoint/2010/main" val="3571795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Мета, об’єкт і предмет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UA" sz="2400" dirty="0"/>
              <a:t>Мета </a:t>
            </a:r>
            <a:r>
              <a:rPr lang="ru-UA" sz="2400" dirty="0" err="1"/>
              <a:t>роботи</a:t>
            </a:r>
            <a:r>
              <a:rPr lang="ru-UA" sz="2400" dirty="0"/>
              <a:t>:</a:t>
            </a:r>
            <a:br>
              <a:rPr lang="ru-UA" sz="2400" dirty="0"/>
            </a:br>
            <a:r>
              <a:rPr lang="ru-UA" sz="2400" dirty="0" err="1"/>
              <a:t>розробити</a:t>
            </a:r>
            <a:r>
              <a:rPr lang="ru-UA" sz="2400" dirty="0"/>
              <a:t> та </a:t>
            </a:r>
            <a:r>
              <a:rPr lang="ru-UA" sz="2400" dirty="0" err="1"/>
              <a:t>порівняти</a:t>
            </a:r>
            <a:r>
              <a:rPr lang="ru-UA" sz="2400" dirty="0"/>
              <a:t> </a:t>
            </a:r>
            <a:r>
              <a:rPr lang="ru-UA" sz="2400" dirty="0" err="1"/>
              <a:t>методи</a:t>
            </a:r>
            <a:r>
              <a:rPr lang="ru-UA" sz="2400" dirty="0"/>
              <a:t> </a:t>
            </a:r>
            <a:r>
              <a:rPr lang="ru-UA" sz="2400" dirty="0" err="1"/>
              <a:t>пояснюваного</a:t>
            </a:r>
            <a:r>
              <a:rPr lang="ru-UA" sz="2400" dirty="0"/>
              <a:t> </a:t>
            </a:r>
            <a:r>
              <a:rPr lang="uk-UA" sz="2400" dirty="0"/>
              <a:t>ШІ</a:t>
            </a:r>
            <a:r>
              <a:rPr lang="ru-UA" sz="2400" dirty="0"/>
              <a:t> </a:t>
            </a:r>
            <a:r>
              <a:rPr lang="ru-UA" sz="2400" dirty="0" err="1"/>
              <a:t>оцінювання</a:t>
            </a:r>
            <a:r>
              <a:rPr lang="ru-UA" sz="2400" dirty="0"/>
              <a:t> </a:t>
            </a:r>
            <a:r>
              <a:rPr lang="ru-UA" sz="2400" dirty="0" err="1"/>
              <a:t>студентських</a:t>
            </a:r>
            <a:r>
              <a:rPr lang="ru-UA" sz="2400" dirty="0"/>
              <a:t> </a:t>
            </a:r>
            <a:r>
              <a:rPr lang="ru-UA" sz="2400" dirty="0" err="1"/>
              <a:t>програмних</a:t>
            </a:r>
            <a:r>
              <a:rPr lang="ru-UA" sz="2400" dirty="0"/>
              <a:t> </a:t>
            </a:r>
            <a:r>
              <a:rPr lang="ru-UA" sz="2400" dirty="0" err="1"/>
              <a:t>робіт</a:t>
            </a:r>
            <a:r>
              <a:rPr lang="ru-UA" sz="2400" dirty="0"/>
              <a:t>.</a:t>
            </a:r>
          </a:p>
          <a:p>
            <a:r>
              <a:rPr lang="ru-UA" sz="2400" dirty="0" err="1"/>
              <a:t>Об’єкт</a:t>
            </a:r>
            <a:r>
              <a:rPr lang="ru-UA" sz="2400" dirty="0"/>
              <a:t> </a:t>
            </a:r>
            <a:r>
              <a:rPr lang="ru-UA" sz="2400" dirty="0" err="1"/>
              <a:t>дослідження</a:t>
            </a:r>
            <a:r>
              <a:rPr lang="ru-UA" sz="2400" dirty="0"/>
              <a:t>:</a:t>
            </a:r>
            <a:br>
              <a:rPr lang="ru-UA" sz="2400" dirty="0"/>
            </a:br>
            <a:r>
              <a:rPr lang="ru-UA" sz="2400" dirty="0" err="1"/>
              <a:t>процес</a:t>
            </a:r>
            <a:r>
              <a:rPr lang="ru-UA" sz="2400" dirty="0"/>
              <a:t> </a:t>
            </a:r>
            <a:r>
              <a:rPr lang="ru-UA" sz="2400" dirty="0" err="1"/>
              <a:t>автоматизованого</a:t>
            </a:r>
            <a:r>
              <a:rPr lang="ru-UA" sz="2400" dirty="0"/>
              <a:t> та </a:t>
            </a:r>
            <a:r>
              <a:rPr lang="uk-UA" sz="2400" dirty="0"/>
              <a:t>ШІ</a:t>
            </a:r>
            <a:r>
              <a:rPr lang="ru-UA" sz="2400" dirty="0"/>
              <a:t> </a:t>
            </a:r>
            <a:r>
              <a:rPr lang="ru-UA" sz="2400" dirty="0" err="1"/>
              <a:t>оцінювання</a:t>
            </a:r>
            <a:r>
              <a:rPr lang="ru-UA" sz="2400" dirty="0"/>
              <a:t> </a:t>
            </a:r>
            <a:r>
              <a:rPr lang="ru-UA" sz="2400" dirty="0" err="1"/>
              <a:t>студентських</a:t>
            </a:r>
            <a:r>
              <a:rPr lang="ru-UA" sz="2400" dirty="0"/>
              <a:t> </a:t>
            </a:r>
            <a:r>
              <a:rPr lang="ru-UA" sz="2400" dirty="0" err="1"/>
              <a:t>програмних</a:t>
            </a:r>
            <a:r>
              <a:rPr lang="ru-UA" sz="2400" dirty="0"/>
              <a:t> </a:t>
            </a:r>
            <a:r>
              <a:rPr lang="ru-UA" sz="2400" dirty="0" err="1"/>
              <a:t>робіт</a:t>
            </a:r>
            <a:r>
              <a:rPr lang="ru-UA" sz="2400" dirty="0"/>
              <a:t>.</a:t>
            </a:r>
          </a:p>
          <a:p>
            <a:r>
              <a:rPr lang="ru-UA" sz="2400" dirty="0"/>
              <a:t>Предмет </a:t>
            </a:r>
            <a:r>
              <a:rPr lang="ru-UA" sz="2400" dirty="0" err="1"/>
              <a:t>дослідження</a:t>
            </a:r>
            <a:r>
              <a:rPr lang="ru-UA" sz="2400" dirty="0"/>
              <a:t>:</a:t>
            </a:r>
            <a:br>
              <a:rPr lang="ru-UA" sz="2400" dirty="0"/>
            </a:br>
            <a:r>
              <a:rPr lang="ru-UA" sz="2400" dirty="0" err="1"/>
              <a:t>методи</a:t>
            </a:r>
            <a:r>
              <a:rPr lang="ru-UA" sz="2400" dirty="0"/>
              <a:t> </a:t>
            </a:r>
            <a:r>
              <a:rPr lang="ru-UA" sz="2400" dirty="0" err="1"/>
              <a:t>пояснюваного</a:t>
            </a:r>
            <a:r>
              <a:rPr lang="ru-UA" sz="2400" dirty="0"/>
              <a:t> </a:t>
            </a:r>
            <a:r>
              <a:rPr lang="ru-UA" sz="2400" dirty="0" err="1"/>
              <a:t>оцінювання</a:t>
            </a:r>
            <a:r>
              <a:rPr lang="ru-UA" sz="2400" dirty="0"/>
              <a:t> </a:t>
            </a:r>
            <a:r>
              <a:rPr lang="ru-UA" sz="2400" dirty="0" err="1"/>
              <a:t>програмного</a:t>
            </a:r>
            <a:r>
              <a:rPr lang="ru-UA" sz="2400" dirty="0"/>
              <a:t> коду: </a:t>
            </a:r>
            <a:r>
              <a:rPr lang="ru-UA" sz="2400" dirty="0" err="1"/>
              <a:t>rule-based</a:t>
            </a:r>
            <a:r>
              <a:rPr lang="ru-UA" sz="2400" dirty="0"/>
              <a:t> </a:t>
            </a:r>
            <a:r>
              <a:rPr lang="ru-UA" sz="2400" dirty="0" err="1"/>
              <a:t>оцінювання</a:t>
            </a:r>
            <a:r>
              <a:rPr lang="ru-UA" sz="2400" dirty="0"/>
              <a:t>, </a:t>
            </a:r>
            <a:r>
              <a:rPr lang="ru-UA" sz="2400" dirty="0" err="1"/>
              <a:t>зважені</a:t>
            </a:r>
            <a:r>
              <a:rPr lang="ru-UA" sz="2400" dirty="0"/>
              <a:t> тести, </a:t>
            </a:r>
            <a:r>
              <a:rPr lang="ru-UA" sz="2400" dirty="0" err="1"/>
              <a:t>статичний</a:t>
            </a:r>
            <a:r>
              <a:rPr lang="ru-UA" sz="2400" dirty="0"/>
              <a:t> </a:t>
            </a:r>
            <a:r>
              <a:rPr lang="ru-UA" sz="2400" dirty="0" err="1"/>
              <a:t>аналіз</a:t>
            </a:r>
            <a:r>
              <a:rPr lang="ru-UA" sz="2400" dirty="0"/>
              <a:t>, LLM-</a:t>
            </a:r>
            <a:r>
              <a:rPr lang="ru-UA" sz="2400" dirty="0" err="1"/>
              <a:t>based</a:t>
            </a:r>
            <a:r>
              <a:rPr lang="ru-UA" sz="2400" dirty="0"/>
              <a:t> </a:t>
            </a:r>
            <a:r>
              <a:rPr lang="ru-UA" sz="2400" dirty="0" err="1"/>
              <a:t>оцінювання</a:t>
            </a:r>
            <a:r>
              <a:rPr lang="ru-UA" sz="2400" dirty="0"/>
              <a:t>, </a:t>
            </a:r>
            <a:r>
              <a:rPr lang="ru-UA" sz="2400" dirty="0" err="1"/>
              <a:t>test-aware</a:t>
            </a:r>
            <a:r>
              <a:rPr lang="ru-UA" sz="2400" dirty="0"/>
              <a:t> LLM та </a:t>
            </a:r>
            <a:r>
              <a:rPr lang="ru-UA" sz="2400" dirty="0" err="1"/>
              <a:t>deterministic</a:t>
            </a:r>
            <a:r>
              <a:rPr lang="ru-UA" sz="2400" dirty="0"/>
              <a:t> </a:t>
            </a:r>
            <a:r>
              <a:rPr lang="ru-UA" sz="2400" dirty="0" err="1"/>
              <a:t>guardrails</a:t>
            </a:r>
            <a:r>
              <a:rPr lang="ru-UA" sz="2400" dirty="0"/>
              <a:t>.</a:t>
            </a:r>
          </a:p>
          <a:p>
            <a:pPr marL="0" indent="0">
              <a:buNone/>
            </a:pPr>
            <a:endParaRPr lang="ru-RU" sz="2400" b="0" dirty="0"/>
          </a:p>
        </p:txBody>
      </p:sp>
    </p:spTree>
    <p:extLst>
      <p:ext uri="{BB962C8B-B14F-4D97-AF65-F5344CB8AC3E}">
        <p14:creationId xmlns:p14="http://schemas.microsoft.com/office/powerpoint/2010/main" val="41316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UA" dirty="0"/>
              <a:t>Постановка </a:t>
            </a:r>
            <a:r>
              <a:rPr lang="ru-UA" dirty="0" err="1"/>
              <a:t>задачі</a:t>
            </a:r>
            <a:endParaRPr lang="uk-UA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F2299D-BCE1-DE25-DF10-56900ED82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1" y="1340643"/>
            <a:ext cx="4827589" cy="2755107"/>
          </a:xfrm>
        </p:spPr>
        <p:txBody>
          <a:bodyPr/>
          <a:lstStyle/>
          <a:p>
            <a:pPr marL="0" indent="0">
              <a:buNone/>
            </a:pPr>
            <a:r>
              <a:rPr lang="ru-UA" sz="2400" dirty="0" err="1"/>
              <a:t>Вхідні</a:t>
            </a:r>
            <a:r>
              <a:rPr lang="ru-UA" sz="2400" dirty="0"/>
              <a:t> </a:t>
            </a:r>
            <a:r>
              <a:rPr lang="ru-UA" sz="2400" dirty="0" err="1"/>
              <a:t>дані</a:t>
            </a:r>
            <a:r>
              <a:rPr lang="ru-UA" sz="2400" dirty="0"/>
              <a:t>:</a:t>
            </a:r>
            <a:endParaRPr lang="uk-UA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UA" altLang="ru-UA" sz="2400" b="0" dirty="0" err="1">
                <a:latin typeface="Arial" panose="020B0604020202020204" pitchFamily="34" charset="0"/>
              </a:rPr>
              <a:t>умова</a:t>
            </a:r>
            <a:r>
              <a:rPr lang="ru-UA" altLang="ru-UA" sz="2400" b="0" dirty="0">
                <a:latin typeface="Arial" panose="020B0604020202020204" pitchFamily="34" charset="0"/>
              </a:rPr>
              <a:t> </a:t>
            </a:r>
            <a:r>
              <a:rPr lang="ru-UA" altLang="ru-UA" sz="2400" b="0" dirty="0" err="1">
                <a:latin typeface="Arial" panose="020B0604020202020204" pitchFamily="34" charset="0"/>
              </a:rPr>
              <a:t>програмного</a:t>
            </a:r>
            <a:r>
              <a:rPr lang="ru-UA" altLang="ru-UA" sz="2400" b="0" dirty="0">
                <a:latin typeface="Arial" panose="020B0604020202020204" pitchFamily="34" charset="0"/>
              </a:rPr>
              <a:t> </a:t>
            </a:r>
            <a:r>
              <a:rPr lang="ru-UA" altLang="ru-UA" sz="2400" b="0" dirty="0" err="1">
                <a:latin typeface="Arial" panose="020B0604020202020204" pitchFamily="34" charset="0"/>
              </a:rPr>
              <a:t>завдання</a:t>
            </a:r>
            <a:r>
              <a:rPr lang="ru-UA" altLang="ru-UA" sz="2400" b="0" dirty="0">
                <a:latin typeface="Arial" panose="020B0604020202020204" pitchFamily="34" charset="0"/>
              </a:rPr>
              <a:t>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UA" altLang="ru-UA" sz="2400" b="0" dirty="0">
                <a:latin typeface="Arial" panose="020B0604020202020204" pitchFamily="34" charset="0"/>
              </a:rPr>
              <a:t>код студента мовою Python;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UA" altLang="ru-UA" sz="2400" b="0" dirty="0">
                <a:latin typeface="Arial" panose="020B0604020202020204" pitchFamily="34" charset="0"/>
              </a:rPr>
              <a:t>тест-</a:t>
            </a:r>
            <a:r>
              <a:rPr lang="ru-UA" altLang="ru-UA" sz="2400" b="0" dirty="0" err="1">
                <a:latin typeface="Arial" panose="020B0604020202020204" pitchFamily="34" charset="0"/>
              </a:rPr>
              <a:t>кейси</a:t>
            </a:r>
            <a:r>
              <a:rPr lang="ru-UA" altLang="ru-UA" sz="2400" b="0" dirty="0">
                <a:latin typeface="Arial" panose="020B0604020202020204" pitchFamily="34" charset="0"/>
              </a:rPr>
              <a:t>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UA" altLang="ru-UA" sz="2400" b="0" dirty="0">
                <a:latin typeface="Arial" panose="020B0604020202020204" pitchFamily="34" charset="0"/>
              </a:rPr>
              <a:t>ваги </a:t>
            </a:r>
            <a:r>
              <a:rPr lang="ru-UA" altLang="ru-UA" sz="2400" b="0" dirty="0" err="1">
                <a:latin typeface="Arial" panose="020B0604020202020204" pitchFamily="34" charset="0"/>
              </a:rPr>
              <a:t>тестів</a:t>
            </a:r>
            <a:r>
              <a:rPr lang="ru-UA" altLang="ru-UA" sz="2400" b="0" dirty="0">
                <a:latin typeface="Arial" panose="020B0604020202020204" pitchFamily="34" charset="0"/>
              </a:rPr>
              <a:t>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UA" altLang="ru-UA" sz="2400" b="0" dirty="0">
                <a:latin typeface="Arial" panose="020B0604020202020204" pitchFamily="34" charset="0"/>
              </a:rPr>
              <a:t>рубрика </a:t>
            </a:r>
            <a:r>
              <a:rPr lang="ru-UA" altLang="ru-UA" sz="2400" b="0" dirty="0" err="1">
                <a:latin typeface="Arial" panose="020B0604020202020204" pitchFamily="34" charset="0"/>
              </a:rPr>
              <a:t>оцінювання</a:t>
            </a:r>
            <a:r>
              <a:rPr lang="ru-UA" altLang="ru-UA" sz="2400" b="0" dirty="0">
                <a:latin typeface="Arial" panose="020B0604020202020204" pitchFamily="34" charset="0"/>
              </a:rPr>
              <a:t>. </a:t>
            </a:r>
            <a:endParaRPr lang="uk-UA" altLang="ru-UA" sz="2400" b="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uk-UA" altLang="ru-UA" sz="2400" b="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uk-UA" sz="2400" dirty="0"/>
          </a:p>
          <a:p>
            <a:pPr marL="0" indent="0">
              <a:buNone/>
            </a:pPr>
            <a:endParaRPr lang="ru-RU" sz="2400" b="0" dirty="0"/>
          </a:p>
        </p:txBody>
      </p:sp>
      <p:sp>
        <p:nvSpPr>
          <p:cNvPr id="8" name="Текст 2">
            <a:extLst>
              <a:ext uri="{FF2B5EF4-FFF2-40B4-BE49-F238E27FC236}">
                <a16:creationId xmlns:a16="http://schemas.microsoft.com/office/drawing/2014/main" id="{AF19E0B3-DB3F-972C-05B8-6B85C9F4A1E4}"/>
              </a:ext>
            </a:extLst>
          </p:cNvPr>
          <p:cNvSpPr txBox="1">
            <a:spLocks/>
          </p:cNvSpPr>
          <p:nvPr/>
        </p:nvSpPr>
        <p:spPr>
          <a:xfrm>
            <a:off x="6095998" y="1340643"/>
            <a:ext cx="4827589" cy="27551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UA" sz="2400" dirty="0"/>
              <a:t>В</a:t>
            </a:r>
            <a:r>
              <a:rPr lang="uk-UA" sz="2400" dirty="0"/>
              <a:t>и</a:t>
            </a:r>
            <a:r>
              <a:rPr lang="ru-UA" sz="2400" dirty="0" err="1"/>
              <a:t>хідні</a:t>
            </a:r>
            <a:r>
              <a:rPr lang="ru-UA" sz="2400" dirty="0"/>
              <a:t> </a:t>
            </a:r>
            <a:r>
              <a:rPr lang="ru-UA" sz="2400" dirty="0" err="1"/>
              <a:t>дані</a:t>
            </a:r>
            <a:r>
              <a:rPr lang="ru-UA" sz="2400" dirty="0"/>
              <a:t>:</a:t>
            </a:r>
            <a:endParaRPr lang="uk-UA" sz="24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UA" sz="2400" b="0" dirty="0" err="1">
                <a:latin typeface="Arial" panose="020B0604020202020204" pitchFamily="34" charset="0"/>
              </a:rPr>
              <a:t>прогнозована</a:t>
            </a:r>
            <a:r>
              <a:rPr lang="ru-RU" altLang="ru-UA" sz="2400" b="0" dirty="0">
                <a:latin typeface="Arial" panose="020B0604020202020204" pitchFamily="34" charset="0"/>
              </a:rPr>
              <a:t> </a:t>
            </a:r>
            <a:r>
              <a:rPr lang="ru-RU" altLang="ru-UA" sz="2400" b="0" dirty="0" err="1">
                <a:latin typeface="Arial" panose="020B0604020202020204" pitchFamily="34" charset="0"/>
              </a:rPr>
              <a:t>оцінка</a:t>
            </a:r>
            <a:r>
              <a:rPr lang="ru-RU" altLang="ru-UA" sz="2400" b="0" dirty="0">
                <a:latin typeface="Arial" panose="020B0604020202020204" pitchFamily="34" charset="0"/>
              </a:rPr>
              <a:t>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UA" sz="2400" b="0" dirty="0" err="1">
                <a:latin typeface="Arial" panose="020B0604020202020204" pitchFamily="34" charset="0"/>
              </a:rPr>
              <a:t>пояснення</a:t>
            </a:r>
            <a:r>
              <a:rPr lang="ru-RU" altLang="ru-UA" sz="2400" b="0" dirty="0">
                <a:latin typeface="Arial" panose="020B0604020202020204" pitchFamily="34" charset="0"/>
              </a:rPr>
              <a:t> за </a:t>
            </a:r>
            <a:r>
              <a:rPr lang="ru-RU" altLang="ru-UA" sz="2400" b="0" dirty="0" err="1">
                <a:latin typeface="Arial" panose="020B0604020202020204" pitchFamily="34" charset="0"/>
              </a:rPr>
              <a:t>критеріями</a:t>
            </a:r>
            <a:r>
              <a:rPr lang="ru-RU" altLang="ru-UA" sz="2400" b="0" dirty="0">
                <a:latin typeface="Arial" panose="020B0604020202020204" pitchFamily="34" charset="0"/>
              </a:rPr>
              <a:t>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UA" sz="2400" b="0" dirty="0" err="1">
                <a:latin typeface="Arial" panose="020B0604020202020204" pitchFamily="34" charset="0"/>
              </a:rPr>
              <a:t>результати</a:t>
            </a:r>
            <a:r>
              <a:rPr lang="ru-RU" altLang="ru-UA" sz="2400" b="0" dirty="0">
                <a:latin typeface="Arial" panose="020B0604020202020204" pitchFamily="34" charset="0"/>
              </a:rPr>
              <a:t> </a:t>
            </a:r>
            <a:r>
              <a:rPr lang="ru-RU" altLang="ru-UA" sz="2400" b="0" dirty="0" err="1">
                <a:latin typeface="Arial" panose="020B0604020202020204" pitchFamily="34" charset="0"/>
              </a:rPr>
              <a:t>тестів</a:t>
            </a:r>
            <a:r>
              <a:rPr lang="ru-RU" altLang="ru-UA" sz="2400" b="0" dirty="0">
                <a:latin typeface="Arial" panose="020B0604020202020204" pitchFamily="34" charset="0"/>
              </a:rPr>
              <a:t>;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ru-UA" sz="2400" b="0" dirty="0">
                <a:latin typeface="Arial" panose="020B0604020202020204" pitchFamily="34" charset="0"/>
              </a:rPr>
              <a:t>risk flags;</a:t>
            </a:r>
            <a:endParaRPr lang="uk-UA" altLang="ru-UA" sz="2400" b="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UA" sz="2400" b="0" dirty="0" err="1">
                <a:latin typeface="Arial" panose="020B0604020202020204" pitchFamily="34" charset="0"/>
              </a:rPr>
              <a:t>політика</a:t>
            </a:r>
            <a:r>
              <a:rPr lang="ru-RU" altLang="ru-UA" sz="2400" b="0" dirty="0">
                <a:latin typeface="Arial" panose="020B0604020202020204" pitchFamily="34" charset="0"/>
              </a:rPr>
              <a:t> </a:t>
            </a:r>
            <a:r>
              <a:rPr lang="en-US" altLang="ru-UA" sz="2400" b="0" dirty="0" err="1">
                <a:latin typeface="Arial" panose="020B0604020202020204" pitchFamily="34" charset="0"/>
              </a:rPr>
              <a:t>teacher_must_confirm</a:t>
            </a:r>
            <a:r>
              <a:rPr lang="en-US" altLang="ru-UA" sz="2400" b="0" dirty="0">
                <a:latin typeface="Arial" panose="020B0604020202020204" pitchFamily="34" charset="0"/>
              </a:rPr>
              <a:t>.</a:t>
            </a:r>
            <a:endParaRPr lang="uk-UA" altLang="ru-UA" sz="2400" b="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uk-UA" altLang="ru-UA" sz="2400" b="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uk-UA" altLang="ru-UA" sz="2400" b="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uk-UA" altLang="ru-UA" sz="2400" b="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ru-UA" altLang="ru-UA" sz="2400" b="0" dirty="0">
              <a:latin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uk-UA" sz="2400" dirty="0"/>
          </a:p>
          <a:p>
            <a:pPr marL="0" indent="0">
              <a:buFont typeface="Arial" panose="020B0604020202020204" pitchFamily="34" charset="0"/>
              <a:buNone/>
            </a:pPr>
            <a:endParaRPr lang="ru-RU" sz="2400" b="0" dirty="0"/>
          </a:p>
        </p:txBody>
      </p:sp>
      <p:sp>
        <p:nvSpPr>
          <p:cNvPr id="26" name="Текст 2">
            <a:extLst>
              <a:ext uri="{FF2B5EF4-FFF2-40B4-BE49-F238E27FC236}">
                <a16:creationId xmlns:a16="http://schemas.microsoft.com/office/drawing/2014/main" id="{7DF9B762-B8F6-5678-8C96-2DDCA08CF62B}"/>
              </a:ext>
            </a:extLst>
          </p:cNvPr>
          <p:cNvSpPr txBox="1">
            <a:spLocks/>
          </p:cNvSpPr>
          <p:nvPr/>
        </p:nvSpPr>
        <p:spPr>
          <a:xfrm>
            <a:off x="401636" y="4445793"/>
            <a:ext cx="11142664" cy="27551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UA" sz="2400" dirty="0" err="1"/>
              <a:t>Ключова</a:t>
            </a:r>
            <a:r>
              <a:rPr lang="ru-UA" sz="2400" dirty="0"/>
              <a:t> </a:t>
            </a:r>
            <a:r>
              <a:rPr lang="ru-UA" sz="2400" dirty="0" err="1"/>
              <a:t>ідея</a:t>
            </a:r>
            <a:r>
              <a:rPr lang="ru-UA" sz="2400" dirty="0"/>
              <a:t>:</a:t>
            </a:r>
            <a:br>
              <a:rPr lang="ru-UA" sz="2400" dirty="0"/>
            </a:br>
            <a:r>
              <a:rPr lang="ru-UA" sz="2400" b="0" dirty="0"/>
              <a:t>система не </a:t>
            </a:r>
            <a:r>
              <a:rPr lang="ru-UA" sz="2400" b="0" dirty="0" err="1"/>
              <a:t>замінює</a:t>
            </a:r>
            <a:r>
              <a:rPr lang="ru-UA" sz="2400" b="0" dirty="0"/>
              <a:t> </a:t>
            </a:r>
            <a:r>
              <a:rPr lang="ru-UA" sz="2400" b="0" dirty="0" err="1"/>
              <a:t>викладача</a:t>
            </a:r>
            <a:r>
              <a:rPr lang="ru-UA" sz="2400" b="0" dirty="0"/>
              <a:t>, а </a:t>
            </a:r>
            <a:r>
              <a:rPr lang="ru-UA" sz="2400" b="0" dirty="0" err="1"/>
              <a:t>формує</a:t>
            </a:r>
            <a:r>
              <a:rPr lang="ru-UA" sz="2400" b="0" dirty="0"/>
              <a:t> </a:t>
            </a:r>
            <a:r>
              <a:rPr lang="ru-UA" sz="2400" b="0" dirty="0" err="1"/>
              <a:t>попередню</a:t>
            </a:r>
            <a:r>
              <a:rPr lang="ru-UA" sz="2400" b="0" dirty="0"/>
              <a:t> </a:t>
            </a:r>
            <a:r>
              <a:rPr lang="ru-UA" sz="2400" b="0" dirty="0" err="1"/>
              <a:t>оцінку</a:t>
            </a:r>
            <a:r>
              <a:rPr lang="ru-UA" sz="2400" b="0" dirty="0"/>
              <a:t> та </a:t>
            </a:r>
            <a:r>
              <a:rPr lang="ru-UA" sz="2400" b="0" dirty="0" err="1"/>
              <a:t>пояснення</a:t>
            </a:r>
            <a:r>
              <a:rPr lang="ru-UA" sz="2400" b="0" dirty="0"/>
              <a:t>.</a:t>
            </a:r>
            <a:endParaRPr lang="ru-RU" sz="2400" b="0" dirty="0"/>
          </a:p>
        </p:txBody>
      </p:sp>
    </p:spTree>
    <p:extLst>
      <p:ext uri="{BB962C8B-B14F-4D97-AF65-F5344CB8AC3E}">
        <p14:creationId xmlns:p14="http://schemas.microsoft.com/office/powerpoint/2010/main" val="887294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4961" y="188914"/>
            <a:ext cx="11522075" cy="982661"/>
          </a:xfrm>
        </p:spPr>
        <p:txBody>
          <a:bodyPr/>
          <a:lstStyle/>
          <a:p>
            <a:r>
              <a:rPr lang="ru-UA" dirty="0" err="1"/>
              <a:t>Контрольний</a:t>
            </a:r>
            <a:r>
              <a:rPr lang="ru-UA" dirty="0"/>
              <a:t> </a:t>
            </a:r>
            <a:r>
              <a:rPr lang="ru-UA" dirty="0" err="1"/>
              <a:t>набір</a:t>
            </a:r>
            <a:r>
              <a:rPr lang="ru-UA" dirty="0"/>
              <a:t> </a:t>
            </a:r>
            <a:r>
              <a:rPr lang="ru-UA" dirty="0" err="1"/>
              <a:t>даних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8B87A0-E5FB-E1B5-9FBC-B4920E2BCA77}"/>
              </a:ext>
            </a:extLst>
          </p:cNvPr>
          <p:cNvSpPr txBox="1">
            <a:spLocks/>
          </p:cNvSpPr>
          <p:nvPr/>
        </p:nvSpPr>
        <p:spPr>
          <a:xfrm>
            <a:off x="382584" y="1000125"/>
            <a:ext cx="11142664" cy="619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UA" sz="2000" b="0" dirty="0" err="1"/>
              <a:t>Dataset</a:t>
            </a:r>
            <a:r>
              <a:rPr lang="ru-UA" sz="2000" b="0" dirty="0"/>
              <a:t> сформовано на </a:t>
            </a:r>
            <a:r>
              <a:rPr lang="ru-UA" sz="2000" b="0" dirty="0" err="1"/>
              <a:t>основі</a:t>
            </a:r>
            <a:r>
              <a:rPr lang="ru-UA" sz="2000" b="0" dirty="0"/>
              <a:t> </a:t>
            </a:r>
            <a:r>
              <a:rPr lang="ru-UA" sz="2000" b="0" dirty="0" err="1"/>
              <a:t>навчальних</a:t>
            </a:r>
            <a:r>
              <a:rPr lang="ru-UA" sz="2000" b="0" dirty="0"/>
              <a:t> </a:t>
            </a:r>
            <a:r>
              <a:rPr lang="ru-UA" sz="2000" b="0" dirty="0" err="1"/>
              <a:t>лабораторних</a:t>
            </a:r>
            <a:r>
              <a:rPr lang="ru-UA" sz="2000" b="0" dirty="0"/>
              <a:t> </a:t>
            </a:r>
            <a:r>
              <a:rPr lang="ru-UA" sz="2000" b="0" dirty="0" err="1"/>
              <a:t>завдань</a:t>
            </a:r>
            <a:r>
              <a:rPr lang="ru-UA" sz="2000" b="0" dirty="0"/>
              <a:t> з Python.</a:t>
            </a:r>
            <a:endParaRPr lang="ru-RU" sz="2000" b="0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77DDA6CF-6BA9-A2EA-F1DF-237A98B79B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584" y="1619250"/>
            <a:ext cx="4827589" cy="1962151"/>
          </a:xfrm>
        </p:spPr>
        <p:txBody>
          <a:bodyPr/>
          <a:lstStyle/>
          <a:p>
            <a:r>
              <a:rPr lang="ru-UA" sz="2400" dirty="0"/>
              <a:t>Структура </a:t>
            </a:r>
            <a:r>
              <a:rPr lang="ru-UA" sz="2400" dirty="0" err="1"/>
              <a:t>dataset</a:t>
            </a:r>
            <a:r>
              <a:rPr lang="ru-UA" sz="2400" dirty="0"/>
              <a:t>:</a:t>
            </a:r>
          </a:p>
          <a:p>
            <a:r>
              <a:rPr lang="ru-UA" sz="1600" b="0" dirty="0"/>
              <a:t>assignments.csv — </a:t>
            </a:r>
            <a:r>
              <a:rPr lang="ru-UA" sz="1600" b="0" dirty="0" err="1"/>
              <a:t>опис</a:t>
            </a:r>
            <a:r>
              <a:rPr lang="ru-UA" sz="1600" b="0" dirty="0"/>
              <a:t> </a:t>
            </a:r>
            <a:r>
              <a:rPr lang="ru-UA" sz="1600" b="0" dirty="0" err="1"/>
              <a:t>завдань</a:t>
            </a:r>
            <a:r>
              <a:rPr lang="ru-UA" sz="1600" b="0" dirty="0"/>
              <a:t>; </a:t>
            </a:r>
          </a:p>
          <a:p>
            <a:r>
              <a:rPr lang="ru-UA" sz="1600" b="0" dirty="0" err="1"/>
              <a:t>submissions.jsonl</a:t>
            </a:r>
            <a:r>
              <a:rPr lang="ru-UA" sz="1600" b="0" dirty="0"/>
              <a:t> — </a:t>
            </a:r>
            <a:r>
              <a:rPr lang="ru-UA" sz="1600" b="0" dirty="0" err="1"/>
              <a:t>програмні</a:t>
            </a:r>
            <a:r>
              <a:rPr lang="ru-UA" sz="1600" b="0" dirty="0"/>
              <a:t> </a:t>
            </a:r>
            <a:r>
              <a:rPr lang="ru-UA" sz="1600" b="0" dirty="0" err="1"/>
              <a:t>подання</a:t>
            </a:r>
            <a:r>
              <a:rPr lang="ru-UA" sz="1600" b="0" dirty="0"/>
              <a:t>; </a:t>
            </a:r>
          </a:p>
          <a:p>
            <a:r>
              <a:rPr lang="ru-UA" sz="1600" b="0" dirty="0"/>
              <a:t>test_cases.csv — тест-</a:t>
            </a:r>
            <a:r>
              <a:rPr lang="ru-UA" sz="1600" b="0" dirty="0" err="1"/>
              <a:t>кейси</a:t>
            </a:r>
            <a:r>
              <a:rPr lang="ru-UA" sz="1600" b="0" dirty="0"/>
              <a:t> та ваги; </a:t>
            </a:r>
          </a:p>
          <a:p>
            <a:r>
              <a:rPr lang="ru-UA" sz="1600" b="0" dirty="0" err="1"/>
              <a:t>rubric.json</a:t>
            </a:r>
            <a:r>
              <a:rPr lang="ru-UA" sz="1600" b="0" dirty="0"/>
              <a:t> — </a:t>
            </a:r>
            <a:r>
              <a:rPr lang="ru-UA" sz="1600" b="0" dirty="0" err="1"/>
              <a:t>критерії</a:t>
            </a:r>
            <a:r>
              <a:rPr lang="ru-UA" sz="1600" b="0" dirty="0"/>
              <a:t> </a:t>
            </a:r>
            <a:r>
              <a:rPr lang="ru-UA" sz="1600" b="0" dirty="0" err="1"/>
              <a:t>оцінювання</a:t>
            </a:r>
            <a:r>
              <a:rPr lang="ru-UA" sz="1600" b="0" dirty="0"/>
              <a:t>.</a:t>
            </a:r>
          </a:p>
          <a:p>
            <a:pPr marL="0" indent="0">
              <a:buNone/>
            </a:pPr>
            <a:endParaRPr lang="uk-UA" sz="2400" dirty="0"/>
          </a:p>
          <a:p>
            <a:pPr marL="0" indent="0">
              <a:buNone/>
            </a:pPr>
            <a:endParaRPr lang="ru-RU" sz="2400" b="0" dirty="0"/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2CB2E9A-0469-74EA-68B8-DC2E442AD31D}"/>
              </a:ext>
            </a:extLst>
          </p:cNvPr>
          <p:cNvSpPr txBox="1">
            <a:spLocks/>
          </p:cNvSpPr>
          <p:nvPr/>
        </p:nvSpPr>
        <p:spPr>
          <a:xfrm>
            <a:off x="6430961" y="1619251"/>
            <a:ext cx="4827589" cy="19621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UA" sz="2400" dirty="0" err="1"/>
              <a:t>Обсяг</a:t>
            </a:r>
            <a:r>
              <a:rPr lang="ru-UA" sz="2400" dirty="0"/>
              <a:t>:</a:t>
            </a:r>
          </a:p>
          <a:p>
            <a:r>
              <a:rPr lang="ru-UA" sz="1600" b="0" dirty="0"/>
              <a:t>4 </a:t>
            </a:r>
            <a:r>
              <a:rPr lang="ru-UA" sz="1600" b="0" dirty="0" err="1"/>
              <a:t>завдання</a:t>
            </a:r>
            <a:r>
              <a:rPr lang="ru-UA" sz="1600" b="0" dirty="0"/>
              <a:t>; </a:t>
            </a:r>
          </a:p>
          <a:p>
            <a:r>
              <a:rPr lang="ru-UA" sz="1600" b="0" dirty="0"/>
              <a:t>16 </a:t>
            </a:r>
            <a:r>
              <a:rPr lang="ru-UA" sz="1600" b="0" dirty="0" err="1"/>
              <a:t>програмних</a:t>
            </a:r>
            <a:r>
              <a:rPr lang="ru-UA" sz="1600" b="0" dirty="0"/>
              <a:t> </a:t>
            </a:r>
            <a:r>
              <a:rPr lang="ru-UA" sz="1600" b="0" dirty="0" err="1"/>
              <a:t>подань</a:t>
            </a:r>
            <a:r>
              <a:rPr lang="ru-UA" sz="1600" b="0" dirty="0"/>
              <a:t>; </a:t>
            </a:r>
          </a:p>
          <a:p>
            <a:r>
              <a:rPr lang="ru-UA" sz="1600" b="0" dirty="0"/>
              <a:t>типи </a:t>
            </a:r>
            <a:r>
              <a:rPr lang="ru-UA" sz="1600" b="0" dirty="0" err="1"/>
              <a:t>подань</a:t>
            </a:r>
            <a:r>
              <a:rPr lang="ru-UA" sz="1600" b="0" dirty="0"/>
              <a:t>: </a:t>
            </a:r>
            <a:r>
              <a:rPr lang="ru-UA" sz="1600" b="0" dirty="0" err="1"/>
              <a:t>correct</a:t>
            </a:r>
            <a:r>
              <a:rPr lang="ru-UA" sz="1600" b="0" dirty="0"/>
              <a:t>, </a:t>
            </a:r>
            <a:r>
              <a:rPr lang="ru-UA" sz="1600" b="0" dirty="0" err="1"/>
              <a:t>partial</a:t>
            </a:r>
            <a:r>
              <a:rPr lang="ru-UA" sz="1600" b="0" dirty="0"/>
              <a:t>, </a:t>
            </a:r>
            <a:r>
              <a:rPr lang="ru-UA" sz="1600" b="0" dirty="0" err="1"/>
              <a:t>wrong</a:t>
            </a:r>
            <a:r>
              <a:rPr lang="ru-UA" sz="1600" b="0" dirty="0"/>
              <a:t>, </a:t>
            </a:r>
            <a:r>
              <a:rPr lang="ru-UA" sz="1600" b="0" dirty="0" err="1"/>
              <a:t>runtime</a:t>
            </a:r>
            <a:r>
              <a:rPr lang="ru-UA" sz="1600" b="0" dirty="0"/>
              <a:t>/</a:t>
            </a:r>
            <a:r>
              <a:rPr lang="ru-UA" sz="1600" b="0" dirty="0" err="1"/>
              <a:t>syntax</a:t>
            </a:r>
            <a:r>
              <a:rPr lang="ru-UA" sz="1600" b="0" dirty="0"/>
              <a:t> </a:t>
            </a:r>
            <a:r>
              <a:rPr lang="ru-UA" sz="1600" b="0" dirty="0" err="1"/>
              <a:t>error</a:t>
            </a:r>
            <a:r>
              <a:rPr lang="ru-UA" sz="1600" b="0" dirty="0"/>
              <a:t>.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6F9AC24A-8CF8-68BA-9335-93DE843CE8F5}"/>
              </a:ext>
            </a:extLst>
          </p:cNvPr>
          <p:cNvSpPr txBox="1">
            <a:spLocks/>
          </p:cNvSpPr>
          <p:nvPr/>
        </p:nvSpPr>
        <p:spPr>
          <a:xfrm>
            <a:off x="382584" y="4257673"/>
            <a:ext cx="11142664" cy="19621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UA" sz="2400" dirty="0" err="1"/>
              <a:t>Приклади</a:t>
            </a:r>
            <a:r>
              <a:rPr lang="ru-UA" sz="2400" dirty="0"/>
              <a:t> задач:</a:t>
            </a:r>
          </a:p>
          <a:p>
            <a:r>
              <a:rPr lang="ru-UA" sz="1600" dirty="0" err="1"/>
              <a:t>високосний</a:t>
            </a:r>
            <a:r>
              <a:rPr lang="ru-UA" sz="1600" dirty="0"/>
              <a:t> </a:t>
            </a:r>
            <a:r>
              <a:rPr lang="ru-UA" sz="1600" dirty="0" err="1"/>
              <a:t>рік</a:t>
            </a:r>
            <a:r>
              <a:rPr lang="ru-UA" sz="1600" dirty="0"/>
              <a:t>; </a:t>
            </a:r>
            <a:r>
              <a:rPr lang="ru-UA" sz="1600" dirty="0" err="1"/>
              <a:t>знижка</a:t>
            </a:r>
            <a:r>
              <a:rPr lang="ru-UA" sz="1600" dirty="0"/>
              <a:t> за сумою покупки; </a:t>
            </a:r>
            <a:r>
              <a:rPr lang="ru-UA" sz="1600" dirty="0" err="1"/>
              <a:t>підрахунок</a:t>
            </a:r>
            <a:r>
              <a:rPr lang="ru-UA" sz="1600" dirty="0"/>
              <a:t> слова у </a:t>
            </a:r>
            <a:r>
              <a:rPr lang="ru-UA" sz="1600" dirty="0" err="1"/>
              <a:t>тексті</a:t>
            </a:r>
            <a:r>
              <a:rPr lang="ru-UA" sz="1600" dirty="0"/>
              <a:t>; максимум у списку та </a:t>
            </a:r>
            <a:r>
              <a:rPr lang="ru-UA" sz="1600" dirty="0" err="1"/>
              <a:t>reverse</a:t>
            </a:r>
            <a:r>
              <a:rPr lang="ru-UA" sz="1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34304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1509E-4454-2CEB-ABA3-4E82AB7CB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0933EE-FC11-4BE8-F975-66DF8A28C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1" y="188914"/>
            <a:ext cx="11522075" cy="982661"/>
          </a:xfrm>
        </p:spPr>
        <p:txBody>
          <a:bodyPr/>
          <a:lstStyle/>
          <a:p>
            <a:r>
              <a:rPr lang="ru-UA" dirty="0" err="1"/>
              <a:t>Методи</a:t>
            </a:r>
            <a:r>
              <a:rPr lang="ru-UA" dirty="0"/>
              <a:t> </a:t>
            </a:r>
            <a:r>
              <a:rPr lang="ru-UA" dirty="0" err="1"/>
              <a:t>оцінювання</a:t>
            </a:r>
            <a:endParaRPr lang="ru-RU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5974618-D428-71DC-9634-B2B817A9C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605609"/>
              </p:ext>
            </p:extLst>
          </p:nvPr>
        </p:nvGraphicFramePr>
        <p:xfrm>
          <a:off x="584200" y="1310216"/>
          <a:ext cx="11074400" cy="3963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7200">
                  <a:extLst>
                    <a:ext uri="{9D8B030D-6E8A-4147-A177-3AD203B41FA5}">
                      <a16:colId xmlns:a16="http://schemas.microsoft.com/office/drawing/2014/main" val="1790399255"/>
                    </a:ext>
                  </a:extLst>
                </a:gridCol>
                <a:gridCol w="5537200">
                  <a:extLst>
                    <a:ext uri="{9D8B030D-6E8A-4147-A177-3AD203B41FA5}">
                      <a16:colId xmlns:a16="http://schemas.microsoft.com/office/drawing/2014/main" val="3609356772"/>
                    </a:ext>
                  </a:extLst>
                </a:gridCol>
              </a:tblGrid>
              <a:tr h="495489"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Метод</a:t>
                      </a:r>
                      <a:endParaRPr lang="ru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dirty="0"/>
                        <a:t>Ідея</a:t>
                      </a:r>
                      <a:endParaRPr lang="ru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9101860"/>
                  </a:ext>
                </a:extLst>
              </a:tr>
              <a:tr h="495489">
                <a:tc>
                  <a:txBody>
                    <a:bodyPr/>
                    <a:lstStyle/>
                    <a:p>
                      <a:r>
                        <a:rPr lang="ru-UA"/>
                        <a:t>Equal-weight rule-based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UA" dirty="0" err="1"/>
                        <a:t>усі</a:t>
                      </a:r>
                      <a:r>
                        <a:rPr lang="ru-UA" dirty="0"/>
                        <a:t> тести </a:t>
                      </a:r>
                      <a:r>
                        <a:rPr lang="ru-UA" dirty="0" err="1"/>
                        <a:t>мають</a:t>
                      </a:r>
                      <a:r>
                        <a:rPr lang="ru-UA" dirty="0"/>
                        <a:t> </a:t>
                      </a:r>
                      <a:r>
                        <a:rPr lang="ru-UA" dirty="0" err="1"/>
                        <a:t>однакову</a:t>
                      </a:r>
                      <a:r>
                        <a:rPr lang="ru-UA" dirty="0"/>
                        <a:t> вагу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288284"/>
                  </a:ext>
                </a:extLst>
              </a:tr>
              <a:tr h="495489">
                <a:tc>
                  <a:txBody>
                    <a:bodyPr/>
                    <a:lstStyle/>
                    <a:p>
                      <a:r>
                        <a:rPr lang="ru-UA" dirty="0" err="1"/>
                        <a:t>Weighted</a:t>
                      </a:r>
                      <a:r>
                        <a:rPr lang="ru-UA" dirty="0"/>
                        <a:t> </a:t>
                      </a:r>
                      <a:r>
                        <a:rPr lang="ru-UA" dirty="0" err="1"/>
                        <a:t>rule-based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UA" dirty="0" err="1"/>
                        <a:t>важливі</a:t>
                      </a:r>
                      <a:r>
                        <a:rPr lang="ru-UA" dirty="0"/>
                        <a:t> тести </a:t>
                      </a:r>
                      <a:r>
                        <a:rPr lang="ru-UA" dirty="0" err="1"/>
                        <a:t>мають</a:t>
                      </a:r>
                      <a:r>
                        <a:rPr lang="ru-UA" dirty="0"/>
                        <a:t> </a:t>
                      </a:r>
                      <a:r>
                        <a:rPr lang="ru-UA" dirty="0" err="1"/>
                        <a:t>більший</a:t>
                      </a:r>
                      <a:r>
                        <a:rPr lang="ru-UA" dirty="0"/>
                        <a:t> </a:t>
                      </a:r>
                      <a:r>
                        <a:rPr lang="ru-UA" dirty="0" err="1"/>
                        <a:t>вплив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0987899"/>
                  </a:ext>
                </a:extLst>
              </a:tr>
              <a:tr h="495489">
                <a:tc>
                  <a:txBody>
                    <a:bodyPr/>
                    <a:lstStyle/>
                    <a:p>
                      <a:r>
                        <a:rPr lang="ru-UA" dirty="0" err="1"/>
                        <a:t>Static</a:t>
                      </a:r>
                      <a:r>
                        <a:rPr lang="ru-UA" dirty="0"/>
                        <a:t> </a:t>
                      </a:r>
                      <a:r>
                        <a:rPr lang="ru-UA" dirty="0" err="1"/>
                        <a:t>analysis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UA" dirty="0" err="1"/>
                        <a:t>аналіз</a:t>
                      </a:r>
                      <a:r>
                        <a:rPr lang="ru-UA" dirty="0"/>
                        <a:t> </a:t>
                      </a:r>
                      <a:r>
                        <a:rPr lang="ru-UA" dirty="0" err="1"/>
                        <a:t>структури</a:t>
                      </a:r>
                      <a:r>
                        <a:rPr lang="ru-UA" dirty="0"/>
                        <a:t> коду без </a:t>
                      </a:r>
                      <a:r>
                        <a:rPr lang="ru-UA" dirty="0" err="1"/>
                        <a:t>виконання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167429"/>
                  </a:ext>
                </a:extLst>
              </a:tr>
              <a:tr h="495489">
                <a:tc>
                  <a:txBody>
                    <a:bodyPr/>
                    <a:lstStyle/>
                    <a:p>
                      <a:r>
                        <a:rPr lang="ru-UA" dirty="0"/>
                        <a:t>Hybrid </a:t>
                      </a:r>
                      <a:r>
                        <a:rPr lang="ru-UA" dirty="0" err="1"/>
                        <a:t>rule-based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UA" dirty="0" err="1"/>
                        <a:t>weighted</a:t>
                      </a:r>
                      <a:r>
                        <a:rPr lang="ru-UA" dirty="0"/>
                        <a:t> </a:t>
                      </a:r>
                      <a:r>
                        <a:rPr lang="ru-UA" dirty="0" err="1"/>
                        <a:t>tests</a:t>
                      </a:r>
                      <a:r>
                        <a:rPr lang="ru-UA" dirty="0"/>
                        <a:t> + </a:t>
                      </a:r>
                      <a:r>
                        <a:rPr lang="ru-UA" dirty="0" err="1"/>
                        <a:t>static</a:t>
                      </a:r>
                      <a:r>
                        <a:rPr lang="ru-UA" dirty="0"/>
                        <a:t> </a:t>
                      </a:r>
                      <a:r>
                        <a:rPr lang="ru-UA" dirty="0" err="1"/>
                        <a:t>penalties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220270"/>
                  </a:ext>
                </a:extLst>
              </a:tr>
              <a:tr h="495489">
                <a:tc>
                  <a:txBody>
                    <a:bodyPr/>
                    <a:lstStyle/>
                    <a:p>
                      <a:r>
                        <a:rPr lang="ru-UA" dirty="0"/>
                        <a:t>LLM-</a:t>
                      </a:r>
                      <a:r>
                        <a:rPr lang="ru-UA" dirty="0" err="1"/>
                        <a:t>only</a:t>
                      </a:r>
                      <a:endParaRPr lang="ru-U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UA" dirty="0"/>
                        <a:t>LLM </a:t>
                      </a:r>
                      <a:r>
                        <a:rPr lang="ru-UA" dirty="0" err="1"/>
                        <a:t>оцінює</a:t>
                      </a:r>
                      <a:r>
                        <a:rPr lang="ru-UA" dirty="0"/>
                        <a:t> </a:t>
                      </a:r>
                      <a:r>
                        <a:rPr lang="ru-UA" dirty="0" err="1"/>
                        <a:t>лише</a:t>
                      </a:r>
                      <a:r>
                        <a:rPr lang="ru-UA" dirty="0"/>
                        <a:t> код і </a:t>
                      </a:r>
                      <a:r>
                        <a:rPr lang="ru-UA" dirty="0" err="1"/>
                        <a:t>умову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887104"/>
                  </a:ext>
                </a:extLst>
              </a:tr>
              <a:tr h="495489">
                <a:tc>
                  <a:txBody>
                    <a:bodyPr/>
                    <a:lstStyle/>
                    <a:p>
                      <a:r>
                        <a:rPr lang="ru-UA" dirty="0"/>
                        <a:t>Test-</a:t>
                      </a:r>
                      <a:r>
                        <a:rPr lang="ru-UA" dirty="0" err="1"/>
                        <a:t>aware</a:t>
                      </a:r>
                      <a:r>
                        <a:rPr lang="ru-UA" dirty="0"/>
                        <a:t>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UA" dirty="0"/>
                        <a:t>LLM бачить код, </a:t>
                      </a:r>
                      <a:r>
                        <a:rPr lang="ru-UA" dirty="0" err="1"/>
                        <a:t>умову</a:t>
                      </a:r>
                      <a:r>
                        <a:rPr lang="ru-UA" dirty="0"/>
                        <a:t> й </a:t>
                      </a:r>
                      <a:r>
                        <a:rPr lang="ru-UA" dirty="0" err="1"/>
                        <a:t>результати</a:t>
                      </a:r>
                      <a:r>
                        <a:rPr lang="ru-UA" dirty="0"/>
                        <a:t> </a:t>
                      </a:r>
                      <a:r>
                        <a:rPr lang="ru-UA" dirty="0" err="1"/>
                        <a:t>тестів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874473"/>
                  </a:ext>
                </a:extLst>
              </a:tr>
              <a:tr h="495489">
                <a:tc>
                  <a:txBody>
                    <a:bodyPr/>
                    <a:lstStyle/>
                    <a:p>
                      <a:r>
                        <a:rPr lang="ru-UA" dirty="0" err="1"/>
                        <a:t>Guarded</a:t>
                      </a:r>
                      <a:r>
                        <a:rPr lang="ru-UA" dirty="0"/>
                        <a:t>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UA" dirty="0" err="1"/>
                        <a:t>test-aware</a:t>
                      </a:r>
                      <a:r>
                        <a:rPr lang="ru-UA" dirty="0"/>
                        <a:t> LLM + </a:t>
                      </a:r>
                      <a:r>
                        <a:rPr lang="ru-UA" dirty="0" err="1"/>
                        <a:t>deterministic</a:t>
                      </a:r>
                      <a:r>
                        <a:rPr lang="ru-UA" dirty="0"/>
                        <a:t> </a:t>
                      </a:r>
                      <a:r>
                        <a:rPr lang="ru-UA" dirty="0" err="1"/>
                        <a:t>caps</a:t>
                      </a:r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242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85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8D43-BC6D-F28A-F7A5-C1DB677E8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UA" dirty="0" err="1"/>
              <a:t>Архітектура</a:t>
            </a:r>
            <a:r>
              <a:rPr lang="ru-UA" dirty="0"/>
              <a:t> </a:t>
            </a:r>
            <a:r>
              <a:rPr lang="ru-UA" dirty="0" err="1"/>
              <a:t>сервісу</a:t>
            </a:r>
            <a:endParaRPr lang="ru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130E4-9EF4-0062-A589-4D7EA4D4B0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275" y="1221976"/>
            <a:ext cx="7559449" cy="441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8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0E582-C415-332D-B3B0-1B2B4F034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UA" dirty="0" err="1"/>
              <a:t>Інструменти</a:t>
            </a:r>
            <a:r>
              <a:rPr lang="ru-UA" dirty="0"/>
              <a:t> та LLM-</a:t>
            </a:r>
            <a:r>
              <a:rPr lang="ru-UA" dirty="0" err="1"/>
              <a:t>моделі</a:t>
            </a:r>
            <a:endParaRPr lang="ru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2BA3C-9D71-38DF-A6F9-72B9C8390FB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964" y="1593850"/>
            <a:ext cx="5510666" cy="3076121"/>
          </a:xfrm>
        </p:spPr>
        <p:txBody>
          <a:bodyPr/>
          <a:lstStyle/>
          <a:p>
            <a:r>
              <a:rPr lang="ru-UA" sz="2400" dirty="0" err="1"/>
              <a:t>Технології</a:t>
            </a:r>
            <a:r>
              <a:rPr lang="ru-UA" sz="2400" dirty="0"/>
              <a:t>:</a:t>
            </a:r>
          </a:p>
          <a:p>
            <a:r>
              <a:rPr lang="ru-UA" sz="1600" b="0" dirty="0"/>
              <a:t>.</a:t>
            </a:r>
            <a:r>
              <a:rPr lang="ru-UA" sz="2000" b="0" dirty="0"/>
              <a:t>NET / ASP.NET Core Web API; </a:t>
            </a:r>
          </a:p>
          <a:p>
            <a:r>
              <a:rPr lang="ru-UA" sz="2000" b="0" dirty="0"/>
              <a:t>C#; </a:t>
            </a:r>
          </a:p>
          <a:p>
            <a:r>
              <a:rPr lang="ru-UA" sz="2000" b="0" dirty="0"/>
              <a:t>Python </a:t>
            </a:r>
            <a:r>
              <a:rPr lang="ru-UA" sz="2000" b="0" dirty="0" err="1"/>
              <a:t>runtime</a:t>
            </a:r>
            <a:r>
              <a:rPr lang="ru-UA" sz="2000" b="0" dirty="0"/>
              <a:t>; </a:t>
            </a:r>
          </a:p>
          <a:p>
            <a:r>
              <a:rPr lang="ru-UA" sz="2000" b="0" dirty="0"/>
              <a:t>CSV / JSON / JSONL; </a:t>
            </a:r>
          </a:p>
          <a:p>
            <a:r>
              <a:rPr lang="ru-UA" sz="2000" b="0" dirty="0" err="1"/>
              <a:t>Swagger</a:t>
            </a:r>
            <a:r>
              <a:rPr lang="ru-UA" sz="2000" b="0" dirty="0"/>
              <a:t> / </a:t>
            </a:r>
            <a:r>
              <a:rPr lang="ru-UA" sz="2000" b="0" dirty="0" err="1"/>
              <a:t>OpenAPI</a:t>
            </a:r>
            <a:r>
              <a:rPr lang="ru-UA" sz="2000" b="0" dirty="0"/>
              <a:t>; </a:t>
            </a:r>
          </a:p>
          <a:p>
            <a:r>
              <a:rPr lang="ru-UA" sz="2000" b="0" dirty="0" err="1"/>
              <a:t>OpenRouter</a:t>
            </a:r>
            <a:r>
              <a:rPr lang="ru-UA" sz="2000" b="0" dirty="0"/>
              <a:t> API. </a:t>
            </a:r>
          </a:p>
          <a:p>
            <a:endParaRPr lang="ru-U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F9B59-2AB7-CEDF-2FAA-C399C65E5C0E}"/>
              </a:ext>
            </a:extLst>
          </p:cNvPr>
          <p:cNvSpPr txBox="1"/>
          <p:nvPr/>
        </p:nvSpPr>
        <p:spPr>
          <a:xfrm>
            <a:off x="5845630" y="1397675"/>
            <a:ext cx="6098720" cy="3364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UA" sz="2400" b="1" dirty="0"/>
              <a:t>LLM-</a:t>
            </a:r>
            <a:r>
              <a:rPr lang="ru-UA" sz="2400" b="1" dirty="0" err="1"/>
              <a:t>моделі</a:t>
            </a:r>
            <a:r>
              <a:rPr lang="ru-UA" sz="2400" b="1" dirty="0"/>
              <a:t>:</a:t>
            </a:r>
          </a:p>
          <a:p>
            <a:pPr>
              <a:lnSpc>
                <a:spcPct val="150000"/>
              </a:lnSpc>
            </a:pPr>
            <a:r>
              <a:rPr lang="uk-UA" sz="2000" dirty="0"/>
              <a:t>- </a:t>
            </a:r>
            <a:r>
              <a:rPr lang="ru-UA" sz="2000" dirty="0" err="1"/>
              <a:t>nvidia</a:t>
            </a:r>
            <a:r>
              <a:rPr lang="ru-UA" sz="2000" dirty="0"/>
              <a:t>/nemotron-3-super-120b-a12b:free — </a:t>
            </a:r>
            <a:r>
              <a:rPr lang="ru-UA" sz="2000" dirty="0" err="1"/>
              <a:t>основна</a:t>
            </a:r>
            <a:r>
              <a:rPr lang="ru-UA" sz="2000" dirty="0"/>
              <a:t> </a:t>
            </a:r>
            <a:r>
              <a:rPr lang="ru-UA" sz="2000" dirty="0" err="1"/>
              <a:t>сильніша</a:t>
            </a:r>
            <a:r>
              <a:rPr lang="ru-UA" sz="2000" dirty="0"/>
              <a:t> модель; </a:t>
            </a:r>
          </a:p>
          <a:p>
            <a:pPr>
              <a:lnSpc>
                <a:spcPct val="150000"/>
              </a:lnSpc>
            </a:pPr>
            <a:r>
              <a:rPr lang="uk-UA" sz="2000" dirty="0"/>
              <a:t>- </a:t>
            </a:r>
            <a:r>
              <a:rPr lang="ru-UA" sz="2000" dirty="0" err="1"/>
              <a:t>google</a:t>
            </a:r>
            <a:r>
              <a:rPr lang="ru-UA" sz="2000" dirty="0"/>
              <a:t>/gemma-4-31b-it:free — консервативна модель для </a:t>
            </a:r>
            <a:r>
              <a:rPr lang="ru-UA" sz="2000" dirty="0" err="1"/>
              <a:t>порівняння</a:t>
            </a:r>
            <a:r>
              <a:rPr lang="ru-UA" sz="2000" dirty="0"/>
              <a:t>; 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ru-UA" sz="2000" dirty="0" err="1"/>
              <a:t>liquid</a:t>
            </a:r>
            <a:r>
              <a:rPr lang="ru-UA" sz="2000" dirty="0"/>
              <a:t>/lfm-2.5-1.2b-instruct:free — </a:t>
            </a:r>
            <a:r>
              <a:rPr lang="ru-UA" sz="2000" dirty="0" err="1"/>
              <a:t>швидша</a:t>
            </a:r>
            <a:r>
              <a:rPr lang="ru-UA" sz="2000" dirty="0"/>
              <a:t> </a:t>
            </a:r>
            <a:r>
              <a:rPr lang="ru-UA" sz="2000" dirty="0" err="1"/>
              <a:t>low-cost</a:t>
            </a:r>
            <a:r>
              <a:rPr lang="ru-UA" sz="2000" dirty="0"/>
              <a:t> модель.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2109214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A9BE-B563-0CAA-1894-EB20B395B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UA" dirty="0" err="1"/>
              <a:t>Основні</a:t>
            </a:r>
            <a:r>
              <a:rPr lang="ru-UA" dirty="0"/>
              <a:t> </a:t>
            </a:r>
            <a:r>
              <a:rPr lang="ru-UA" dirty="0" err="1"/>
              <a:t>результати</a:t>
            </a:r>
            <a:r>
              <a:rPr lang="ru-UA" dirty="0"/>
              <a:t> </a:t>
            </a:r>
            <a:r>
              <a:rPr lang="ru-UA" dirty="0" err="1"/>
              <a:t>експерименту</a:t>
            </a:r>
            <a:endParaRPr lang="ru-U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3D18013-26F4-BE3F-5AFF-FEE31A60A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363615"/>
              </p:ext>
            </p:extLst>
          </p:nvPr>
        </p:nvGraphicFramePr>
        <p:xfrm>
          <a:off x="462643" y="1417320"/>
          <a:ext cx="10515600" cy="4023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9662509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13076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9256394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829780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573846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 dirty="0"/>
                        <a:t>Метод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Exact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Within ±1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Max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3474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 dirty="0" err="1"/>
                        <a:t>Equal-weight</a:t>
                      </a:r>
                      <a:endParaRPr lang="ru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dirty="0"/>
                        <a:t>1.33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dirty="0"/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4.75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983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/>
                        <a:t>Weighted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1.16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4.75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647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/>
                        <a:t>Static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3.62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dirty="0"/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7.00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779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/>
                        <a:t>Hybrid rule-based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1.09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dirty="0"/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3.75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8478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/>
                        <a:t>LLM-only / Nemotron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1.19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dirty="0"/>
                        <a:t>5.00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466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/>
                        <a:t>Test-aware LLM / Nemotron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1.22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dirty="0"/>
                        <a:t>6.50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735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/>
                        <a:t>Guarded LLM / Nemotron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b="1"/>
                        <a:t>1.00</a:t>
                      </a:r>
                      <a:endParaRPr lang="ru-U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b="1" dirty="0"/>
                        <a:t>3.00</a:t>
                      </a:r>
                      <a:endParaRPr lang="ru-UA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3999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563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D499-ABE5-B982-DB1F-09C42729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UA" dirty="0" err="1"/>
              <a:t>Порівняння</a:t>
            </a:r>
            <a:r>
              <a:rPr lang="ru-UA" dirty="0"/>
              <a:t> LLM-моделей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5918AB-4C7A-C176-824C-C6F5484071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651721"/>
              </p:ext>
            </p:extLst>
          </p:nvPr>
        </p:nvGraphicFramePr>
        <p:xfrm>
          <a:off x="496886" y="1364773"/>
          <a:ext cx="10515600" cy="21690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87606423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6148005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8033614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938956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3366488"/>
                    </a:ext>
                  </a:extLst>
                </a:gridCol>
              </a:tblGrid>
              <a:tr h="542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/>
                        <a:t>Модель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Exact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Within ±1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Overestimation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8254079"/>
                  </a:ext>
                </a:extLst>
              </a:tr>
              <a:tr h="542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 dirty="0" err="1"/>
                        <a:t>Nemotron</a:t>
                      </a:r>
                      <a:endParaRPr lang="ru-U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b="1"/>
                        <a:t>1.00</a:t>
                      </a:r>
                      <a:endParaRPr lang="ru-U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b="1"/>
                        <a:t>0.44</a:t>
                      </a:r>
                      <a:endParaRPr lang="ru-U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290233"/>
                  </a:ext>
                </a:extLst>
              </a:tr>
              <a:tr h="542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/>
                        <a:t>Gemma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1.06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b="1"/>
                        <a:t>0.75</a:t>
                      </a:r>
                      <a:endParaRPr lang="ru-U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b="1"/>
                        <a:t>0.19</a:t>
                      </a:r>
                      <a:endParaRPr lang="ru-UA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0086741"/>
                  </a:ext>
                </a:extLst>
              </a:tr>
              <a:tr h="5422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UA"/>
                        <a:t>Liquid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1.16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dirty="0"/>
                        <a:t>0.31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/>
                        <a:t>0.69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ru-UA" dirty="0"/>
                        <a:t>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879409"/>
                  </a:ext>
                </a:extLst>
              </a:tr>
            </a:tbl>
          </a:graphicData>
        </a:graphic>
      </p:graphicFrame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A61D416-F390-09A1-C3CA-52863A59F6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3264" y="3993290"/>
            <a:ext cx="10515600" cy="1759809"/>
          </a:xfrm>
        </p:spPr>
        <p:txBody>
          <a:bodyPr/>
          <a:lstStyle/>
          <a:p>
            <a:r>
              <a:rPr lang="en-US" sz="1800" dirty="0" err="1"/>
              <a:t>Nemotron</a:t>
            </a:r>
            <a:r>
              <a:rPr lang="en-US" sz="1800" dirty="0"/>
              <a:t> — </a:t>
            </a:r>
            <a:r>
              <a:rPr lang="ru-RU" sz="1800" dirty="0" err="1"/>
              <a:t>найкращий</a:t>
            </a:r>
            <a:r>
              <a:rPr lang="ru-RU" sz="1800" dirty="0"/>
              <a:t> за </a:t>
            </a:r>
            <a:r>
              <a:rPr lang="en-US" sz="1800" dirty="0"/>
              <a:t>MAE; </a:t>
            </a:r>
            <a:endParaRPr lang="uk-UA" sz="1800" dirty="0"/>
          </a:p>
          <a:p>
            <a:r>
              <a:rPr lang="en-US" sz="1800" dirty="0"/>
              <a:t>Gemma — </a:t>
            </a:r>
            <a:r>
              <a:rPr lang="ru-RU" sz="1800" dirty="0" err="1"/>
              <a:t>найбільш</a:t>
            </a:r>
            <a:r>
              <a:rPr lang="ru-RU" sz="1800" dirty="0"/>
              <a:t> консервативна, </a:t>
            </a:r>
            <a:r>
              <a:rPr lang="ru-RU" sz="1800" dirty="0" err="1"/>
              <a:t>найменше</a:t>
            </a:r>
            <a:r>
              <a:rPr lang="ru-RU" sz="1800" dirty="0"/>
              <a:t> </a:t>
            </a:r>
            <a:r>
              <a:rPr lang="ru-RU" sz="1800" dirty="0" err="1"/>
              <a:t>завищує</a:t>
            </a:r>
            <a:r>
              <a:rPr lang="ru-RU" sz="1800" dirty="0"/>
              <a:t> </a:t>
            </a:r>
            <a:r>
              <a:rPr lang="ru-RU" sz="1800" dirty="0" err="1"/>
              <a:t>оцінки</a:t>
            </a:r>
            <a:r>
              <a:rPr lang="ru-RU" sz="1800" dirty="0"/>
              <a:t>; </a:t>
            </a:r>
          </a:p>
          <a:p>
            <a:r>
              <a:rPr lang="en-US" sz="1800" dirty="0"/>
              <a:t>Liquid — </a:t>
            </a:r>
            <a:r>
              <a:rPr lang="ru-RU" sz="1800" dirty="0" err="1"/>
              <a:t>швидша</a:t>
            </a:r>
            <a:r>
              <a:rPr lang="ru-RU" sz="1800" dirty="0"/>
              <a:t>, </a:t>
            </a:r>
            <a:r>
              <a:rPr lang="ru-RU" sz="1800" dirty="0" err="1"/>
              <a:t>але</a:t>
            </a:r>
            <a:r>
              <a:rPr lang="ru-RU" sz="1800" dirty="0"/>
              <a:t> </a:t>
            </a:r>
            <a:r>
              <a:rPr lang="ru-RU" sz="1800" dirty="0" err="1"/>
              <a:t>частіше</a:t>
            </a:r>
            <a:r>
              <a:rPr lang="ru-RU" sz="1800" dirty="0"/>
              <a:t> </a:t>
            </a:r>
            <a:r>
              <a:rPr lang="ru-RU" sz="1800" dirty="0" err="1"/>
              <a:t>переоцінює</a:t>
            </a:r>
            <a:r>
              <a:rPr lang="ru-RU" sz="1800" dirty="0"/>
              <a:t>.</a:t>
            </a:r>
            <a:endParaRPr lang="ru-UA" sz="1800" dirty="0"/>
          </a:p>
        </p:txBody>
      </p:sp>
    </p:spTree>
    <p:extLst>
      <p:ext uri="{BB962C8B-B14F-4D97-AF65-F5344CB8AC3E}">
        <p14:creationId xmlns:p14="http://schemas.microsoft.com/office/powerpoint/2010/main" val="2870146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Висновки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334960" y="1174115"/>
            <a:ext cx="11522075" cy="4509770"/>
          </a:xfrm>
        </p:spPr>
        <p:txBody>
          <a:bodyPr/>
          <a:lstStyle/>
          <a:p>
            <a:pPr marL="0" indent="0">
              <a:buNone/>
            </a:pPr>
            <a:r>
              <a:rPr lang="ru-UA" sz="2000" b="0" dirty="0"/>
              <a:t>У </a:t>
            </a:r>
            <a:r>
              <a:rPr lang="ru-UA" sz="2000" b="0" dirty="0" err="1"/>
              <a:t>роботі</a:t>
            </a:r>
            <a:r>
              <a:rPr lang="ru-UA" sz="2000" b="0" dirty="0"/>
              <a:t> </a:t>
            </a:r>
            <a:r>
              <a:rPr lang="ru-UA" sz="2000" b="0" dirty="0" err="1"/>
              <a:t>розроблено</a:t>
            </a:r>
            <a:r>
              <a:rPr lang="ru-UA" sz="2000" b="0" dirty="0"/>
              <a:t> прототип </a:t>
            </a:r>
            <a:r>
              <a:rPr lang="ru-UA" sz="2000" b="0" dirty="0" err="1"/>
              <a:t>сервісу</a:t>
            </a:r>
            <a:r>
              <a:rPr lang="ru-UA" sz="2000" b="0" dirty="0"/>
              <a:t> </a:t>
            </a:r>
            <a:r>
              <a:rPr lang="ru-UA" sz="2000" b="0" dirty="0" err="1"/>
              <a:t>пояснюваного</a:t>
            </a:r>
            <a:r>
              <a:rPr lang="ru-UA" sz="2000" b="0" dirty="0"/>
              <a:t> AI-</a:t>
            </a:r>
            <a:r>
              <a:rPr lang="ru-UA" sz="2000" b="0" dirty="0" err="1"/>
              <a:t>assisted</a:t>
            </a:r>
            <a:r>
              <a:rPr lang="ru-UA" sz="2000" b="0" dirty="0"/>
              <a:t> </a:t>
            </a:r>
            <a:r>
              <a:rPr lang="ru-UA" sz="2000" b="0" dirty="0" err="1"/>
              <a:t>оцінювання</a:t>
            </a:r>
            <a:r>
              <a:rPr lang="ru-UA" sz="2000" b="0" dirty="0"/>
              <a:t> </a:t>
            </a:r>
            <a:r>
              <a:rPr lang="ru-UA" sz="2000" b="0" dirty="0" err="1"/>
              <a:t>програмних</a:t>
            </a:r>
            <a:r>
              <a:rPr lang="ru-UA" sz="2000" b="0" dirty="0"/>
              <a:t> </a:t>
            </a:r>
            <a:r>
              <a:rPr lang="ru-UA" sz="2000" b="0" dirty="0" err="1"/>
              <a:t>робіт</a:t>
            </a:r>
            <a:r>
              <a:rPr lang="ru-UA" sz="2000" b="0" dirty="0"/>
              <a:t>.</a:t>
            </a:r>
          </a:p>
          <a:p>
            <a:pPr marL="0" indent="0">
              <a:buNone/>
            </a:pPr>
            <a:r>
              <a:rPr lang="ru-UA" sz="2000" b="0" dirty="0" err="1"/>
              <a:t>Реалізовано</a:t>
            </a:r>
            <a:r>
              <a:rPr lang="ru-UA" sz="2000" b="0" dirty="0"/>
              <a:t> </a:t>
            </a:r>
            <a:r>
              <a:rPr lang="ru-UA" sz="2000" b="0" dirty="0" err="1"/>
              <a:t>pipeline</a:t>
            </a:r>
            <a:r>
              <a:rPr lang="ru-UA" sz="2000" b="0" dirty="0"/>
              <a:t> для:</a:t>
            </a:r>
          </a:p>
          <a:p>
            <a:r>
              <a:rPr lang="ru-UA" sz="2000" b="0" dirty="0"/>
              <a:t>запуску Python-коду; </a:t>
            </a:r>
          </a:p>
          <a:p>
            <a:r>
              <a:rPr lang="ru-UA" sz="2000" b="0" dirty="0" err="1"/>
              <a:t>виконання</a:t>
            </a:r>
            <a:r>
              <a:rPr lang="ru-UA" sz="2000" b="0" dirty="0"/>
              <a:t> </a:t>
            </a:r>
            <a:r>
              <a:rPr lang="ru-UA" sz="2000" b="0" dirty="0" err="1"/>
              <a:t>тестів</a:t>
            </a:r>
            <a:r>
              <a:rPr lang="ru-UA" sz="2000" b="0" dirty="0"/>
              <a:t>; </a:t>
            </a:r>
          </a:p>
          <a:p>
            <a:r>
              <a:rPr lang="ru-UA" sz="2000" b="0" dirty="0" err="1"/>
              <a:t>оцінювання</a:t>
            </a:r>
            <a:r>
              <a:rPr lang="ru-UA" sz="2000" b="0" dirty="0"/>
              <a:t> </a:t>
            </a:r>
            <a:r>
              <a:rPr lang="ru-UA" sz="2000" b="0" dirty="0" err="1"/>
              <a:t>різними</a:t>
            </a:r>
            <a:r>
              <a:rPr lang="ru-UA" sz="2000" b="0" dirty="0"/>
              <a:t> </a:t>
            </a:r>
            <a:r>
              <a:rPr lang="uk-UA" sz="2000" b="0" dirty="0"/>
              <a:t>підходами</a:t>
            </a:r>
            <a:r>
              <a:rPr lang="ru-UA" sz="2000" b="0" dirty="0"/>
              <a:t>; </a:t>
            </a:r>
          </a:p>
          <a:p>
            <a:r>
              <a:rPr lang="ru-UA" sz="2000" b="0" dirty="0" err="1"/>
              <a:t>інтеграції</a:t>
            </a:r>
            <a:r>
              <a:rPr lang="ru-UA" sz="2000" b="0" dirty="0"/>
              <a:t> з LLM через </a:t>
            </a:r>
            <a:r>
              <a:rPr lang="ru-UA" sz="2000" b="0" dirty="0" err="1"/>
              <a:t>OpenRouter</a:t>
            </a:r>
            <a:r>
              <a:rPr lang="ru-UA" sz="2000" b="0" dirty="0"/>
              <a:t>; </a:t>
            </a:r>
          </a:p>
          <a:p>
            <a:r>
              <a:rPr lang="ru-UA" sz="2000" b="0" dirty="0" err="1"/>
              <a:t>застосування</a:t>
            </a:r>
            <a:r>
              <a:rPr lang="ru-UA" sz="2000" b="0" dirty="0"/>
              <a:t> </a:t>
            </a:r>
            <a:r>
              <a:rPr lang="ru-UA" sz="2000" b="0" dirty="0" err="1"/>
              <a:t>deterministic</a:t>
            </a:r>
            <a:r>
              <a:rPr lang="ru-UA" sz="2000" b="0" dirty="0"/>
              <a:t> </a:t>
            </a:r>
            <a:r>
              <a:rPr lang="ru-UA" sz="2000" b="0" dirty="0" err="1"/>
              <a:t>guardrails</a:t>
            </a:r>
            <a:r>
              <a:rPr lang="ru-UA" sz="2000" b="0" dirty="0"/>
              <a:t>; </a:t>
            </a:r>
          </a:p>
          <a:p>
            <a:r>
              <a:rPr lang="ru-UA" sz="2000" b="0" dirty="0" err="1"/>
              <a:t>обчислення</a:t>
            </a:r>
            <a:r>
              <a:rPr lang="ru-UA" sz="2000" b="0" dirty="0"/>
              <a:t> метрик </a:t>
            </a:r>
            <a:r>
              <a:rPr lang="ru-UA" sz="2000" b="0" dirty="0" err="1"/>
              <a:t>якості</a:t>
            </a:r>
            <a:r>
              <a:rPr lang="ru-UA" sz="2000" b="0" dirty="0"/>
              <a:t>. </a:t>
            </a:r>
            <a:endParaRPr lang="uk-UA" sz="2000" b="0" dirty="0"/>
          </a:p>
          <a:p>
            <a:pPr marL="0" indent="0">
              <a:buNone/>
            </a:pPr>
            <a:r>
              <a:rPr lang="uk-UA" sz="2000" b="0" dirty="0"/>
              <a:t>Н</a:t>
            </a:r>
            <a:r>
              <a:rPr lang="ru-UA" sz="2000" b="0" dirty="0" err="1"/>
              <a:t>айкращий</a:t>
            </a:r>
            <a:r>
              <a:rPr lang="ru-UA" sz="2000" b="0" dirty="0"/>
              <a:t> результат </a:t>
            </a:r>
            <a:r>
              <a:rPr lang="ru-UA" sz="2000" b="0" dirty="0" err="1"/>
              <a:t>дає</a:t>
            </a:r>
            <a:r>
              <a:rPr lang="ru-UA" sz="2000" b="0" dirty="0"/>
              <a:t> </a:t>
            </a:r>
            <a:r>
              <a:rPr lang="ru-UA" sz="2000" b="0" dirty="0" err="1"/>
              <a:t>комбінований</a:t>
            </a:r>
            <a:r>
              <a:rPr lang="ru-UA" sz="2000" b="0" dirty="0"/>
              <a:t> </a:t>
            </a:r>
            <a:r>
              <a:rPr lang="ru-UA" sz="2000" b="0" dirty="0" err="1"/>
              <a:t>підхід</a:t>
            </a:r>
            <a:r>
              <a:rPr lang="ru-UA" sz="2000" b="0" dirty="0"/>
              <a:t>: тести </a:t>
            </a:r>
            <a:r>
              <a:rPr lang="ru-UA" sz="2000" b="0" dirty="0" err="1"/>
              <a:t>забезпечують</a:t>
            </a:r>
            <a:r>
              <a:rPr lang="ru-UA" sz="2000" b="0" dirty="0"/>
              <a:t> </a:t>
            </a:r>
            <a:r>
              <a:rPr lang="ru-UA" sz="2000" b="0" dirty="0" err="1"/>
              <a:t>об’єктивність</a:t>
            </a:r>
            <a:r>
              <a:rPr lang="ru-UA" sz="2000" b="0" dirty="0"/>
              <a:t>, LLM </a:t>
            </a:r>
            <a:r>
              <a:rPr lang="ru-UA" sz="2000" b="0" dirty="0" err="1"/>
              <a:t>формує</a:t>
            </a:r>
            <a:r>
              <a:rPr lang="ru-UA" sz="2000" b="0" dirty="0"/>
              <a:t> </a:t>
            </a:r>
            <a:r>
              <a:rPr lang="ru-UA" sz="2000" b="0" dirty="0" err="1"/>
              <a:t>пояснення</a:t>
            </a:r>
            <a:r>
              <a:rPr lang="ru-UA" sz="2000" b="0" dirty="0"/>
              <a:t>, а </a:t>
            </a:r>
            <a:r>
              <a:rPr lang="ru-UA" sz="2000" b="0" dirty="0" err="1"/>
              <a:t>guardrails</a:t>
            </a:r>
            <a:r>
              <a:rPr lang="ru-UA" sz="2000" b="0" dirty="0"/>
              <a:t> </a:t>
            </a:r>
            <a:r>
              <a:rPr lang="ru-UA" sz="2000" b="0" dirty="0" err="1"/>
              <a:t>зменшують</a:t>
            </a:r>
            <a:r>
              <a:rPr lang="ru-UA" sz="2000" b="0" dirty="0"/>
              <a:t> </a:t>
            </a:r>
            <a:r>
              <a:rPr lang="ru-UA" sz="2000" b="0" dirty="0" err="1"/>
              <a:t>ризик</a:t>
            </a:r>
            <a:r>
              <a:rPr lang="ru-UA" sz="2000" b="0" dirty="0"/>
              <a:t> </a:t>
            </a:r>
            <a:r>
              <a:rPr lang="ru-UA" sz="2000" b="0" dirty="0" err="1"/>
              <a:t>небезпечного</a:t>
            </a:r>
            <a:r>
              <a:rPr lang="ru-UA" sz="2000" b="0" dirty="0"/>
              <a:t> </a:t>
            </a:r>
            <a:r>
              <a:rPr lang="ru-UA" sz="2000" b="0" dirty="0" err="1"/>
              <a:t>переоцінювання</a:t>
            </a:r>
            <a:r>
              <a:rPr lang="ru-UA" sz="2000" b="0" dirty="0"/>
              <a:t>.</a:t>
            </a:r>
          </a:p>
          <a:p>
            <a:pPr marL="0" indent="0">
              <a:buNone/>
            </a:pPr>
            <a:endParaRPr lang="ru-RU" sz="2000" b="0" dirty="0"/>
          </a:p>
        </p:txBody>
      </p:sp>
    </p:spTree>
    <p:extLst>
      <p:ext uri="{BB962C8B-B14F-4D97-AF65-F5344CB8AC3E}">
        <p14:creationId xmlns:p14="http://schemas.microsoft.com/office/powerpoint/2010/main" val="3273280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algn="ctr"/>
            <a:r>
              <a:rPr lang="ru-RU" dirty="0" err="1"/>
              <a:t>Дякую</a:t>
            </a:r>
            <a:r>
              <a:rPr lang="ru-RU" dirty="0"/>
              <a:t> за </a:t>
            </a:r>
            <a:r>
              <a:rPr lang="ru-RU" dirty="0" err="1"/>
              <a:t>увагу</a:t>
            </a:r>
            <a:r>
              <a:rPr lang="ru-RU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776963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Житомирська політехніка">
      <a:dk1>
        <a:srgbClr val="224D83"/>
      </a:dk1>
      <a:lt1>
        <a:sysClr val="window" lastClr="FFFFFF"/>
      </a:lt1>
      <a:dk2>
        <a:srgbClr val="FFFFFF"/>
      </a:dk2>
      <a:lt2>
        <a:srgbClr val="224D8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Житомирська політехніка">
      <a:majorFont>
        <a:latin typeface="Montserrat Extra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</TotalTime>
  <Words>627</Words>
  <Application>Microsoft Office PowerPoint</Application>
  <PresentationFormat>Widescreen</PresentationFormat>
  <Paragraphs>150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Тема Office</vt:lpstr>
      <vt:lpstr> «Розробка та порівняльний аналіз методів пояснюваного ШІ оцінювання студентських програмних робіт»</vt:lpstr>
      <vt:lpstr>Актуальність теми</vt:lpstr>
      <vt:lpstr>Мета, об’єкт і предмет</vt:lpstr>
      <vt:lpstr>Постановка задачі</vt:lpstr>
      <vt:lpstr>Контрольний набір даних</vt:lpstr>
      <vt:lpstr>Методи оцінювання</vt:lpstr>
      <vt:lpstr>Архітектура сервісу</vt:lpstr>
      <vt:lpstr>Інструменти та LLM-моделі</vt:lpstr>
      <vt:lpstr>Основні результати експерименту</vt:lpstr>
      <vt:lpstr>Порівняння LLM-моделей</vt:lpstr>
      <vt:lpstr>Висновки</vt:lpstr>
      <vt:lpstr>Дякую за увагу!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Новосьолов Іван Володимирович</dc:creator>
  <cp:lastModifiedBy>Anton Osypchuk</cp:lastModifiedBy>
  <cp:revision>39</cp:revision>
  <dcterms:created xsi:type="dcterms:W3CDTF">2023-01-12T09:20:21Z</dcterms:created>
  <dcterms:modified xsi:type="dcterms:W3CDTF">2026-06-04T06:56:29Z</dcterms:modified>
</cp:coreProperties>
</file>